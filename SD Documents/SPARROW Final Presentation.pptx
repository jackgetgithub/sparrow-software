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EABABF-511B-4D29-9E36-947EC27D0BD4}">
  <a:tblStyle styleId="{9BEABABF-511B-4D29-9E36-947EC27D0B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42BAC45-C59E-43F8-A8E8-F3F4521ABA27}"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37bb8cb7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37bb8cb7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cec80916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cec80916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End of Slide: Note that SOAR is part of the drones while SPARROW is mostly the base station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2cec80916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2cec80916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52168614db_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52168614db_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 are the Objectives for SPARROW, the base station would involve data transmission and reception between itself and the drones. The drones would utilize computer vision to detect individuals in need of assistance without the need of human actions. The communication protocol would send the imag</a:t>
            </a:r>
            <a:r>
              <a:rPr lang="en-GB"/>
              <a:t>e data over the network to show detected humans.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cec80916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cec80916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These are the key engineering requirements that guided the design of our system.</a:t>
            </a:r>
            <a:endParaRPr/>
          </a:p>
          <a:p>
            <a:pPr indent="0" lvl="0" marL="0" rtl="0" algn="l">
              <a:lnSpc>
                <a:spcPct val="115000"/>
              </a:lnSpc>
              <a:spcBef>
                <a:spcPts val="1200"/>
              </a:spcBef>
              <a:spcAft>
                <a:spcPts val="0"/>
              </a:spcAft>
              <a:buClr>
                <a:schemeClr val="dk1"/>
              </a:buClr>
              <a:buSzPts val="1100"/>
              <a:buFont typeface="Arial"/>
              <a:buNone/>
            </a:pPr>
            <a:r>
              <a:rPr lang="en-GB"/>
              <a:t>Starting with communication range, we aimed for at least 10 meters to ensure reliable data transmission between the drone and the ground station.</a:t>
            </a:r>
            <a:endParaRPr/>
          </a:p>
          <a:p>
            <a:pPr indent="0" lvl="0" marL="0" rtl="0" algn="l">
              <a:lnSpc>
                <a:spcPct val="115000"/>
              </a:lnSpc>
              <a:spcBef>
                <a:spcPts val="1200"/>
              </a:spcBef>
              <a:spcAft>
                <a:spcPts val="0"/>
              </a:spcAft>
              <a:buClr>
                <a:schemeClr val="dk1"/>
              </a:buClr>
              <a:buSzPts val="1100"/>
              <a:buFont typeface="Arial"/>
              <a:buNone/>
            </a:pPr>
            <a:r>
              <a:rPr lang="en-GB"/>
              <a:t>Our human detection accuracy target was set at over 60%, which we were able to approach during testing with a model that achieved an average precision of 58%.</a:t>
            </a:r>
            <a:endParaRPr/>
          </a:p>
          <a:p>
            <a:pPr indent="0" lvl="0" marL="0" rtl="0" algn="l">
              <a:lnSpc>
                <a:spcPct val="115000"/>
              </a:lnSpc>
              <a:spcBef>
                <a:spcPts val="1200"/>
              </a:spcBef>
              <a:spcAft>
                <a:spcPts val="0"/>
              </a:spcAft>
              <a:buClr>
                <a:schemeClr val="dk1"/>
              </a:buClr>
              <a:buSzPts val="1100"/>
              <a:buFont typeface="Arial"/>
              <a:buNone/>
            </a:pPr>
            <a:r>
              <a:rPr lang="en-GB"/>
              <a:t>Startup time had to be fast — under a minute and a half — to make the system responsive in urgent situations.</a:t>
            </a:r>
            <a:endParaRPr/>
          </a:p>
          <a:p>
            <a:pPr indent="0" lvl="0" marL="0" rtl="0" algn="l">
              <a:lnSpc>
                <a:spcPct val="115000"/>
              </a:lnSpc>
              <a:spcBef>
                <a:spcPts val="1200"/>
              </a:spcBef>
              <a:spcAft>
                <a:spcPts val="0"/>
              </a:spcAft>
              <a:buClr>
                <a:schemeClr val="dk1"/>
              </a:buClr>
              <a:buSzPts val="1100"/>
              <a:buFont typeface="Arial"/>
              <a:buNone/>
            </a:pPr>
            <a:r>
              <a:rPr lang="en-GB"/>
              <a:t>We also needed the system to detect people from at least 20 meters away, which informed our choice of camera resolution and model tuning.</a:t>
            </a:r>
            <a:endParaRPr/>
          </a:p>
          <a:p>
            <a:pPr indent="0" lvl="0" marL="0" rtl="0" algn="l">
              <a:lnSpc>
                <a:spcPct val="115000"/>
              </a:lnSpc>
              <a:spcBef>
                <a:spcPts val="1200"/>
              </a:spcBef>
              <a:spcAft>
                <a:spcPts val="0"/>
              </a:spcAft>
              <a:buClr>
                <a:schemeClr val="dk1"/>
              </a:buClr>
              <a:buSzPts val="1100"/>
              <a:buFont typeface="Arial"/>
              <a:buNone/>
            </a:pPr>
            <a:r>
              <a:rPr lang="en-GB"/>
              <a:t>Display response time had to stay under 5 milliseconds to avoid lag when switching between RGB and thermal views.</a:t>
            </a:r>
            <a:endParaRPr/>
          </a:p>
          <a:p>
            <a:pPr indent="0" lvl="0" marL="0" rtl="0" algn="l">
              <a:lnSpc>
                <a:spcPct val="115000"/>
              </a:lnSpc>
              <a:spcBef>
                <a:spcPts val="1200"/>
              </a:spcBef>
              <a:spcAft>
                <a:spcPts val="0"/>
              </a:spcAft>
              <a:buClr>
                <a:schemeClr val="dk1"/>
              </a:buClr>
              <a:buSzPts val="1100"/>
              <a:buFont typeface="Arial"/>
              <a:buNone/>
            </a:pPr>
            <a:r>
              <a:rPr lang="en-GB"/>
              <a:t>The entire base station was required to weigh under 2 kilograms for easy deployment in the field.</a:t>
            </a:r>
            <a:endParaRPr/>
          </a:p>
          <a:p>
            <a:pPr indent="0" lvl="0" marL="0" rtl="0" algn="l">
              <a:lnSpc>
                <a:spcPct val="115000"/>
              </a:lnSpc>
              <a:spcBef>
                <a:spcPts val="1200"/>
              </a:spcBef>
              <a:spcAft>
                <a:spcPts val="0"/>
              </a:spcAft>
              <a:buClr>
                <a:schemeClr val="dk1"/>
              </a:buClr>
              <a:buSzPts val="1100"/>
              <a:buFont typeface="Arial"/>
              <a:buNone/>
            </a:pPr>
            <a:r>
              <a:rPr lang="en-GB"/>
              <a:t>Lastly, the system battery needed to last more than an hour — enough time for a drone search sweep in a moderately sized area.</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bc94211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bc94211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based many of our decisions using the House of Quality. </a:t>
            </a:r>
            <a:r>
              <a:rPr lang="en-GB"/>
              <a:t>By analyzing the relationships between various customer demands and technical features, we were able to identify which specifications held the most importance and should receive the greatest focus during development. This structured approach helped ensure that our design choices aligned closely with user expectations and project goals.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52168614db_7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52168614db_7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decided to store the base station in a </a:t>
            </a:r>
            <a:r>
              <a:rPr lang="en-GB"/>
              <a:t>suitcase</a:t>
            </a:r>
            <a:r>
              <a:rPr lang="en-GB"/>
              <a:t>-like enclosure that will allow the user t</a:t>
            </a:r>
            <a:r>
              <a:rPr lang="en-GB"/>
              <a:t>o move the station easily</a:t>
            </a:r>
            <a:r>
              <a:rPr lang="en-GB"/>
              <a:t>. Both halves of the enclosure will have 1” of foam padding and a ¼” wood panel which the boards and display will be mounted to.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8300635a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d8300635a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slide showcases the low-level hardware diagram for SPARROW. As you can see, our main PCB consists of the batteries, our battery management system, our GPS module, and our microcontroller.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have three regulators: a 3.3V, a 5V, and a 12V regulator, each of which are placed on </a:t>
            </a:r>
            <a:r>
              <a:rPr lang="en-GB"/>
              <a:t>separate</a:t>
            </a:r>
            <a:r>
              <a:rPr lang="en-GB"/>
              <a:t> boards.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All of our external components like our radio modem and the Jetson Orin Dev Kit have connectors on our main PCB so that we can supply power to them and allow them to communicate with our peripherals.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Our modem is used to transmit and </a:t>
            </a:r>
            <a:r>
              <a:rPr lang="en-GB"/>
              <a:t>receive</a:t>
            </a:r>
            <a:r>
              <a:rPr lang="en-GB"/>
              <a:t> signals to and from our sensors which will be implemented onto group 22’s SOAR drones.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337bb8cb7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337bb8cb7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When it came to choosing the thermal camera for SPARROW, the FLIR Boson stood out as the top option, despite the high cost, </a:t>
            </a:r>
            <a:r>
              <a:rPr lang="en-GB" sz="1200">
                <a:solidFill>
                  <a:schemeClr val="dk1"/>
                </a:solidFill>
                <a:latin typeface="Times New Roman"/>
                <a:ea typeface="Times New Roman"/>
                <a:cs typeface="Times New Roman"/>
                <a:sym typeface="Times New Roman"/>
              </a:rPr>
              <a:t>which</a:t>
            </a:r>
            <a:r>
              <a:rPr lang="en-GB" sz="1200">
                <a:solidFill>
                  <a:schemeClr val="dk1"/>
                </a:solidFill>
                <a:latin typeface="Times New Roman"/>
                <a:ea typeface="Times New Roman"/>
                <a:cs typeface="Times New Roman"/>
                <a:sym typeface="Times New Roman"/>
              </a:rPr>
              <a:t> our sponsor Lockheed Martin generously offered to cover. The performance the Boson offers is unmatched when compared to other products we considered. Even with the resolution of just 320x256 pixels, it provides 100 times the pixel count of the second best option. This higher resolution allows for much more detailed thermal detection, which is crucial for search and rescue operations.</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0"/>
              </a:spcAft>
              <a:buNone/>
            </a:pPr>
            <a:r>
              <a:rPr lang="en-GB" sz="1200">
                <a:solidFill>
                  <a:schemeClr val="dk1"/>
                </a:solidFill>
                <a:latin typeface="Times New Roman"/>
                <a:ea typeface="Times New Roman"/>
                <a:cs typeface="Times New Roman"/>
                <a:sym typeface="Times New Roman"/>
              </a:rPr>
              <a:t>While the Boson has the highest power consumption, its higher resolution and wide temperature detection range justify this trade-off. This higher resolution ensures that we can capture the best possible details of the environment.</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1000"/>
              </a:spcAft>
              <a:buNone/>
            </a:pPr>
            <a:r>
              <a:rPr lang="en-GB" sz="1200">
                <a:solidFill>
                  <a:schemeClr val="dk1"/>
                </a:solidFill>
                <a:latin typeface="Times New Roman"/>
                <a:ea typeface="Times New Roman"/>
                <a:cs typeface="Times New Roman"/>
                <a:sym typeface="Times New Roman"/>
              </a:rPr>
              <a:t>Its superior resolution, frame rate, and thermal detection capabilities make it an invaluable asset for search and rescue operations. Thanks to our sponsor for covering the cost, we can afford this high-performance camera without worrying about the price, </a:t>
            </a:r>
            <a:r>
              <a:rPr lang="en-GB" sz="1200">
                <a:solidFill>
                  <a:schemeClr val="dk1"/>
                </a:solidFill>
                <a:latin typeface="Times New Roman"/>
                <a:ea typeface="Times New Roman"/>
                <a:cs typeface="Times New Roman"/>
                <a:sym typeface="Times New Roman"/>
              </a:rPr>
              <a:t>which</a:t>
            </a:r>
            <a:r>
              <a:rPr lang="en-GB" sz="1200">
                <a:solidFill>
                  <a:schemeClr val="dk1"/>
                </a:solidFill>
                <a:latin typeface="Times New Roman"/>
                <a:ea typeface="Times New Roman"/>
                <a:cs typeface="Times New Roman"/>
                <a:sym typeface="Times New Roman"/>
              </a:rPr>
              <a:t> made it a clear winner.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d90409165a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d90409165a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When deciding what type of digital camera to use, we have decided that a USB camera is the best option for our purposes. These cameras offer excellent ease of use and provide reasonable video resolution, power consumption, range, and size. Their affordability also allows us to keep replacement cameras on hand, which is an important consideration.</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1000"/>
              </a:spcAft>
              <a:buNone/>
            </a:pPr>
            <a:r>
              <a:rPr lang="en-GB" sz="1200">
                <a:solidFill>
                  <a:schemeClr val="dk1"/>
                </a:solidFill>
                <a:latin typeface="Times New Roman"/>
                <a:ea typeface="Times New Roman"/>
                <a:cs typeface="Times New Roman"/>
                <a:sym typeface="Times New Roman"/>
              </a:rPr>
              <a:t>Additionally, the higher frame rates are valuable, as a reliable video feed from the camera is essential for SPARROW. While there may be some concerns regarding their reliability, the low cost makes it possible to replace them if necessary. For these reasons, we chose to move forward with a USB camera.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90409165a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90409165a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After evaluating all three USB camera options, we determined that the ELP camera best meets SPARROW’s needs. It has the best balance between resolution, frame rate, power consumption, and cost. The camera’s lower field of view is manageable due to the drone’s mobility.</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100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Although the Arducam offered more features at a similar price, the risk associated with its manual focus feature outweighed its benefits. On the other hand, the GXIVision camera, despite its superior performance in several areas, was ultimately considered to be too expensive and had a less common aspect ratio.</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d86f252d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d86f252d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100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The SAM-M8Q GPS Module stands as the best choice for our project due to its fairly high accuracy, its choice between using I2C or UART protocols, and its built-in antenna. Although it may not </a:t>
            </a:r>
            <a:r>
              <a:rPr lang="en-GB" sz="1200">
                <a:solidFill>
                  <a:schemeClr val="dk1"/>
                </a:solidFill>
                <a:latin typeface="Times New Roman"/>
                <a:ea typeface="Times New Roman"/>
                <a:cs typeface="Times New Roman"/>
                <a:sym typeface="Times New Roman"/>
              </a:rPr>
              <a:t>offer</a:t>
            </a:r>
            <a:r>
              <a:rPr lang="en-GB" sz="1200">
                <a:solidFill>
                  <a:schemeClr val="dk1"/>
                </a:solidFill>
                <a:latin typeface="Times New Roman"/>
                <a:ea typeface="Times New Roman"/>
                <a:cs typeface="Times New Roman"/>
                <a:sym typeface="Times New Roman"/>
              </a:rPr>
              <a:t> the best performance or be the cheapest option, it is perfectly adequate for our purposes.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38b4b3b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338b4b3b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This chart shows our comparison of potential display options for the ground station.</a:t>
            </a:r>
            <a:endParaRPr/>
          </a:p>
          <a:p>
            <a:pPr indent="0" lvl="0" marL="0" rtl="0" algn="l">
              <a:lnSpc>
                <a:spcPct val="115000"/>
              </a:lnSpc>
              <a:spcBef>
                <a:spcPts val="1200"/>
              </a:spcBef>
              <a:spcAft>
                <a:spcPts val="0"/>
              </a:spcAft>
              <a:buClr>
                <a:schemeClr val="dk1"/>
              </a:buClr>
              <a:buSzPts val="1100"/>
              <a:buFont typeface="Arial"/>
              <a:buNone/>
            </a:pPr>
            <a:r>
              <a:rPr lang="en-GB"/>
              <a:t>We prioritized screens that were compact, low-power, easy to integrate, and budget-friendly — while still providing good readability and wide viewing angles.</a:t>
            </a:r>
            <a:endParaRPr/>
          </a:p>
          <a:p>
            <a:pPr indent="0" lvl="0" marL="0" rtl="0" algn="l">
              <a:lnSpc>
                <a:spcPct val="115000"/>
              </a:lnSpc>
              <a:spcBef>
                <a:spcPts val="1200"/>
              </a:spcBef>
              <a:spcAft>
                <a:spcPts val="0"/>
              </a:spcAft>
              <a:buClr>
                <a:schemeClr val="dk1"/>
              </a:buClr>
              <a:buSzPts val="1100"/>
              <a:buFont typeface="Arial"/>
              <a:buNone/>
            </a:pPr>
            <a:r>
              <a:rPr lang="en-GB"/>
              <a:t>Larger options like the FayTech and 16.5-inch IPS monitor offered more screen space but were either too bulky or drew more power than we wanted for a field-ready system.</a:t>
            </a:r>
            <a:endParaRPr/>
          </a:p>
          <a:p>
            <a:pPr indent="0" lvl="0" marL="0" rtl="0" algn="l">
              <a:lnSpc>
                <a:spcPct val="115000"/>
              </a:lnSpc>
              <a:spcBef>
                <a:spcPts val="1200"/>
              </a:spcBef>
              <a:spcAft>
                <a:spcPts val="0"/>
              </a:spcAft>
              <a:buClr>
                <a:schemeClr val="dk1"/>
              </a:buClr>
              <a:buSzPts val="1100"/>
              <a:buFont typeface="Arial"/>
              <a:buNone/>
            </a:pPr>
            <a:r>
              <a:rPr lang="en-GB"/>
              <a:t>The 75Hz monitor was a great desktop choice but not practical for portability.</a:t>
            </a:r>
            <a:endParaRPr/>
          </a:p>
          <a:p>
            <a:pPr indent="0" lvl="0" marL="0" rtl="0" algn="l">
              <a:lnSpc>
                <a:spcPct val="115000"/>
              </a:lnSpc>
              <a:spcBef>
                <a:spcPts val="1200"/>
              </a:spcBef>
              <a:spcAft>
                <a:spcPts val="0"/>
              </a:spcAft>
              <a:buClr>
                <a:schemeClr val="dk1"/>
              </a:buClr>
              <a:buSzPts val="1100"/>
              <a:buFont typeface="Arial"/>
              <a:buNone/>
            </a:pPr>
            <a:r>
              <a:rPr lang="en-GB"/>
              <a:t>We ultimately chose the 7-inch Raspberry Pi screen — it’s compact, low-power</a:t>
            </a:r>
            <a:r>
              <a:rPr lang="en-GB">
                <a:solidFill>
                  <a:schemeClr val="dk1"/>
                </a:solidFill>
              </a:rPr>
              <a:t>, touchscreen capability,</a:t>
            </a:r>
            <a:r>
              <a:rPr lang="en-GB"/>
              <a:t> has good readability and is plug-and-play, which made integration seamless.</a:t>
            </a:r>
            <a:endParaRPr/>
          </a:p>
          <a:p>
            <a:pPr indent="0" lvl="0" marL="0" rtl="0" algn="l">
              <a:lnSpc>
                <a:spcPct val="115000"/>
              </a:lnSpc>
              <a:spcBef>
                <a:spcPts val="1200"/>
              </a:spcBef>
              <a:spcAft>
                <a:spcPts val="0"/>
              </a:spcAft>
              <a:buClr>
                <a:schemeClr val="dk1"/>
              </a:buClr>
              <a:buSzPts val="1100"/>
              <a:buFont typeface="Arial"/>
              <a:buNone/>
            </a:pPr>
            <a:r>
              <a:rPr lang="en-GB"/>
              <a:t>Overall, it offered the best balance of portability, simplicity, and performance for our use case.</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871ea46a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871ea46a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For our radio modem selection, we chose the RFD900x-US due to its superior range and ease of use. With an impressive range of up to 40 km, it ensures reliable communication over long distances, a key requirement for SPARROW.</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Much like the alternatives, the RFD900x supports MAVLink and is compatible with Ardupilot, which simplifies the setup process for SPARROW. </a:t>
            </a:r>
            <a:endParaRPr sz="1200">
              <a:solidFill>
                <a:schemeClr val="dk1"/>
              </a:solidFill>
              <a:latin typeface="Times New Roman"/>
              <a:ea typeface="Times New Roman"/>
              <a:cs typeface="Times New Roman"/>
              <a:sym typeface="Times New Roman"/>
            </a:endParaRPr>
          </a:p>
          <a:p>
            <a:pPr indent="0" lvl="0" marL="0" rtl="0" algn="just">
              <a:spcBef>
                <a:spcPts val="1000"/>
              </a:spcBef>
              <a:spcAft>
                <a:spcPts val="1000"/>
              </a:spcAft>
              <a:buNone/>
            </a:pPr>
            <a:r>
              <a:rPr lang="en-GB" sz="1200">
                <a:solidFill>
                  <a:schemeClr val="dk1"/>
                </a:solidFill>
                <a:latin typeface="Times New Roman"/>
                <a:ea typeface="Times New Roman"/>
                <a:cs typeface="Times New Roman"/>
                <a:sym typeface="Times New Roman"/>
              </a:rPr>
              <a:t>Although the RFD900x is more expensive than the Microhard P900 and P900-ENC, the value it offers in range, reliability, and ease of integration justifies the investment. Additionally, the RFD-900x-US Bundle includes all necessary components, including the 900 MHz antennas, eliminating the need for any additional purchases. This cost-effective solution combined with its high performance is why we chose this option.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d86f252d70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d86f252d70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Jack</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2b20fb6f8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2b20fb6f8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400">
                <a:solidFill>
                  <a:schemeClr val="dk1"/>
                </a:solidFill>
                <a:latin typeface="Times New Roman"/>
                <a:ea typeface="Times New Roman"/>
                <a:cs typeface="Times New Roman"/>
                <a:sym typeface="Times New Roman"/>
              </a:rPr>
              <a:t>Due to the demanding power requirements, a multicell array of batteries is used.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To monitor, manage, and safely protect the other components from these batteries, an </a:t>
            </a:r>
            <a:r>
              <a:rPr lang="en-GB" sz="1400">
                <a:solidFill>
                  <a:schemeClr val="dk1"/>
                </a:solidFill>
                <a:latin typeface="Times New Roman"/>
                <a:ea typeface="Times New Roman"/>
                <a:cs typeface="Times New Roman"/>
                <a:sym typeface="Times New Roman"/>
              </a:rPr>
              <a:t>advanced</a:t>
            </a:r>
            <a:r>
              <a:rPr lang="en-GB" sz="1400">
                <a:solidFill>
                  <a:schemeClr val="dk1"/>
                </a:solidFill>
                <a:latin typeface="Times New Roman"/>
                <a:ea typeface="Times New Roman"/>
                <a:cs typeface="Times New Roman"/>
                <a:sym typeface="Times New Roman"/>
              </a:rPr>
              <a:t> BMS will be utilized.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GB" sz="1400">
                <a:solidFill>
                  <a:schemeClr val="dk1"/>
                </a:solidFill>
                <a:latin typeface="Times New Roman"/>
                <a:ea typeface="Times New Roman"/>
                <a:cs typeface="Times New Roman"/>
                <a:sym typeface="Times New Roman"/>
              </a:rPr>
              <a:t>We selected the L9961 because it was designed by STMicroelectronics to interface with the STM32, allowing for simple and seamless </a:t>
            </a:r>
            <a:r>
              <a:rPr lang="en-GB" sz="1400">
                <a:solidFill>
                  <a:schemeClr val="dk1"/>
                </a:solidFill>
                <a:latin typeface="Times New Roman"/>
                <a:ea typeface="Times New Roman"/>
                <a:cs typeface="Times New Roman"/>
                <a:sym typeface="Times New Roman"/>
              </a:rPr>
              <a:t>integration.</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Furthermore, it is capable of managing the high current output of the five cell battery array with little power loss.</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d83b012b2f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d83b012b2f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400">
                <a:solidFill>
                  <a:schemeClr val="dk1"/>
                </a:solidFill>
                <a:latin typeface="Times New Roman"/>
                <a:ea typeface="Times New Roman"/>
                <a:cs typeface="Times New Roman"/>
                <a:sym typeface="Times New Roman"/>
              </a:rPr>
              <a:t>To supply stable voltage to all of our components, three power rails are required, this includes: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A 12V rail that is used to power the Jetson AGX Orin developer kit.</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A 5V rail that is used to power the modem.</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And a 3.3V rail that is used to power the GPS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The STM32 will use the low current 3.3V voltage supply provided by the L9961</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b20fb6f87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2b20fb6f87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400">
                <a:solidFill>
                  <a:schemeClr val="dk1"/>
                </a:solidFill>
                <a:latin typeface="Times New Roman"/>
                <a:ea typeface="Times New Roman"/>
                <a:cs typeface="Times New Roman"/>
                <a:sym typeface="Times New Roman"/>
              </a:rPr>
              <a:t>As mentioned previously, d</a:t>
            </a:r>
            <a:r>
              <a:rPr lang="en-GB" sz="1400">
                <a:solidFill>
                  <a:schemeClr val="dk1"/>
                </a:solidFill>
                <a:latin typeface="Times New Roman"/>
                <a:ea typeface="Times New Roman"/>
                <a:cs typeface="Times New Roman"/>
                <a:sym typeface="Times New Roman"/>
              </a:rPr>
              <a:t>ue to the demanding power requirements, a multicell array of batteries is required.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We decided to use five LG INR21700-M50 5Ah batteries because they offered the most energy density while being the cheapest option we evaluated.</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They will provided a total of  105 Wh of power, which is enough to power the system for 1:30.</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The full battery lifetime of SOAR totals 15 minutes, meaning SPARROW has more than enough power to last several missions before needing a recharge.</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2b20fb6f87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2b20fb6f87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400">
                <a:solidFill>
                  <a:schemeClr val="dk1"/>
                </a:solidFill>
                <a:latin typeface="Times New Roman"/>
                <a:ea typeface="Times New Roman"/>
                <a:cs typeface="Times New Roman"/>
                <a:sym typeface="Times New Roman"/>
              </a:rPr>
              <a:t>We decided to use the AP64501 for all three of the power rails.</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This is because the AP64501 is able to support the </a:t>
            </a:r>
            <a:r>
              <a:rPr lang="en-GB" sz="1400">
                <a:solidFill>
                  <a:schemeClr val="dk1"/>
                </a:solidFill>
                <a:latin typeface="Times New Roman"/>
                <a:ea typeface="Times New Roman"/>
                <a:cs typeface="Times New Roman"/>
                <a:sym typeface="Times New Roman"/>
              </a:rPr>
              <a:t>five</a:t>
            </a:r>
            <a:r>
              <a:rPr lang="en-GB" sz="1400">
                <a:solidFill>
                  <a:schemeClr val="dk1"/>
                </a:solidFill>
                <a:latin typeface="Times New Roman"/>
                <a:ea typeface="Times New Roman"/>
                <a:cs typeface="Times New Roman"/>
                <a:sym typeface="Times New Roman"/>
              </a:rPr>
              <a:t> cell battery array which outputs a voltage range between 12.5V and 21V at a maximum of 10A.</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Furthermore, the AP64501 has </a:t>
            </a:r>
            <a:r>
              <a:rPr lang="en-GB" sz="1400">
                <a:solidFill>
                  <a:schemeClr val="dk1"/>
                </a:solidFill>
                <a:latin typeface="Times New Roman"/>
                <a:ea typeface="Times New Roman"/>
                <a:cs typeface="Times New Roman"/>
                <a:sym typeface="Times New Roman"/>
              </a:rPr>
              <a:t>configurations </a:t>
            </a:r>
            <a:r>
              <a:rPr lang="en-GB" sz="1400">
                <a:solidFill>
                  <a:schemeClr val="dk1"/>
                </a:solidFill>
                <a:latin typeface="Times New Roman"/>
                <a:ea typeface="Times New Roman"/>
                <a:cs typeface="Times New Roman"/>
                <a:sym typeface="Times New Roman"/>
              </a:rPr>
              <a:t>for all the power rails we require.</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And while the LM2596 meets these same specifications, it costs over double the price of the AP64501, making the it the obvious choice.</a:t>
            </a:r>
            <a:endParaRPr sz="1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d83b012b2f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d83b012b2f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The SAM-M8Q GPS module is integrated onto our main board, which simplifies its connection to the PCB by requiring minimal external circuitry.</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For communication, the GPS module will interface with the STM32 through UART. Pin 14 on the GPS connects to pin 22 on the STM32, and pin 13 on the GPS will connect to pin 21 on the STM32. Since I2C communication is not used, the SDA and SCL pins are left unconnected.</a:t>
            </a:r>
            <a:endParaRPr sz="12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1000"/>
              </a:spcAft>
              <a:buNone/>
            </a:pPr>
            <a:r>
              <a:rPr lang="en-GB" sz="1200">
                <a:solidFill>
                  <a:schemeClr val="dk1"/>
                </a:solidFill>
                <a:latin typeface="Times New Roman"/>
                <a:ea typeface="Times New Roman"/>
                <a:cs typeface="Times New Roman"/>
                <a:sym typeface="Times New Roman"/>
              </a:rPr>
              <a:t>Additionally, an LED is connected to the 3.3V power supply rail as a clear visual indication that the GPS is powered on and should be functioning correctly.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d83b012b2f_4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d83b012b2f_4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The STM32F103C8T6 microcontroller is used to drive the PSU in our system, managing its operation and communication with peripheral devices. To provide a clear visual indication that our MCU is powered on, an LED is connected to its 3.3V supply.</a:t>
            </a:r>
            <a:endParaRPr sz="12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To communicate with our Battery Management System, an L9961, we utilize I2C to exchange battery-related data to the MCU. In addition to I2C communication, the BMS uses three dedicated GPIO pins to relay critical battery status information, such as charge levels, temperature, and fault conditions, directly to the STM32. These connections provide direct monitoring, enhancing the safety and reliability of our system.</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90409165a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90409165a_2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The Jetson Orin Developer Kit communicates with our STM32 microcontroller through the UART interface, which is facilitated through a USB to UART bridge connected to one of the Orin’s USB-A ports. This setup allows for reliable serial communication between the two devices, essential for tasks such as data transmission. On our PCB, we’ve included dedicated header pins specifically for this connection. Jumper wires run from these header pins to the USB to UART bridge, creating a flexible and easily accessible link between the STM32 and the Jetson Orin.</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d83b012b2f_4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d83b012b2f_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To interface with the Jetson Orin, our modem utilizes UART communication, accessed through the Orin’s 40-pin expansion header. These lines are cross-coupled, so the Rx pin of the modem connects to the Tx pin on the Orin, and the Tx pin on the modem connects to the Rx pin on the Orin.</a:t>
            </a:r>
            <a:endParaRPr sz="12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None/>
            </a:pPr>
            <a:r>
              <a:rPr lang="en-GB" sz="1200">
                <a:solidFill>
                  <a:schemeClr val="dk1"/>
                </a:solidFill>
                <a:latin typeface="Times New Roman"/>
                <a:ea typeface="Times New Roman"/>
                <a:cs typeface="Times New Roman"/>
                <a:sym typeface="Times New Roman"/>
              </a:rPr>
              <a:t>To power the RFD-900x modem, a stable 5V DC supply is required and to monitor the power status, an LED is connected to our 5V supply rail to provide a visual indication as to whether or not the modem is receiving any power.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83b012b2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83b012b2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600">
                <a:solidFill>
                  <a:schemeClr val="dk1"/>
                </a:solidFill>
                <a:latin typeface="Times New Roman"/>
                <a:ea typeface="Times New Roman"/>
                <a:cs typeface="Times New Roman"/>
                <a:sym typeface="Times New Roman"/>
              </a:rPr>
              <a:t>The L9961 IC is used for SPARROW’s base station battery management system as contains software library that enables it to be interfaced with the STM32 MCUs and enables various configurations alongside.</a:t>
            </a:r>
            <a:endParaRPr sz="16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en-GB" sz="1600">
                <a:solidFill>
                  <a:schemeClr val="dk1"/>
                </a:solidFill>
                <a:latin typeface="Times New Roman"/>
                <a:ea typeface="Times New Roman"/>
                <a:cs typeface="Times New Roman"/>
                <a:sym typeface="Times New Roman"/>
              </a:rPr>
              <a:t>The L9961 provides voltage and current monitoring to ensure appropriate power throughout the entire ground station system.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d83b012b2f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d83b012b2f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sz="1200">
                <a:solidFill>
                  <a:schemeClr val="dk1"/>
                </a:solidFill>
              </a:rPr>
              <a:t>Because the controller requires 3.3 V, 5 V, and 12 V to operate various components and the power supply will produce more than 12 V at its lowest output, a switching voltage regulator (buck) is the ideal choice. Switching regulators offer high efficiency, which is critical given the significant power demands of components like the Jetson AGX Orin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29b8106f7c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29b8106f7c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decided to use 2 layers for our PCB, and </a:t>
            </a:r>
            <a:r>
              <a:rPr lang="en-GB" sz="1200">
                <a:solidFill>
                  <a:schemeClr val="dk1"/>
                </a:solidFill>
                <a:latin typeface="Times New Roman"/>
                <a:ea typeface="Times New Roman"/>
                <a:cs typeface="Times New Roman"/>
                <a:sym typeface="Times New Roman"/>
              </a:rPr>
              <a:t>d</a:t>
            </a:r>
            <a:r>
              <a:rPr lang="en-GB" sz="1200">
                <a:solidFill>
                  <a:schemeClr val="dk1"/>
                </a:solidFill>
                <a:latin typeface="Times New Roman"/>
                <a:ea typeface="Times New Roman"/>
                <a:cs typeface="Times New Roman"/>
                <a:sym typeface="Times New Roman"/>
              </a:rPr>
              <a:t>ue to course requirements, all peripherals have to interface with the STM32. The STM32 is then interfaced with the Jetson AGX Orin through UART, we’ve made several changes to the PCB since revision one, such as increasing the copper fill to 2 ounces per foot squared, removing the optocoupler we had between all data traces, switching the GPS to UART instead of I2C, correcting the pinouts of the mosfets U1, U2, and U3 as well as the diodes D1 and D2. We also increased the trace width in several locations and decreased the Orin pin header size.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29b8106f7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29b8106f7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d83b012b2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d83b012b2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Jack</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d90409165a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d90409165a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100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5218e9e19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5218e9e19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Jack</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337bb8cb7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337bb8cb7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ArduPilot for ability to work with MavLink</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338b4b3b9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338b4b3b9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YOLO</a:t>
            </a:r>
            <a:r>
              <a:rPr lang="en-GB" sz="1400">
                <a:solidFill>
                  <a:schemeClr val="dk1"/>
                </a:solidFill>
                <a:latin typeface="Times New Roman"/>
                <a:ea typeface="Times New Roman"/>
                <a:cs typeface="Times New Roman"/>
                <a:sym typeface="Times New Roman"/>
              </a:rPr>
              <a:t>- Fast, efficient, and optimized for real-time detection</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Faster R-CNN (region-based convolutional neural network)- </a:t>
            </a:r>
            <a:r>
              <a:rPr lang="en-GB" sz="1400">
                <a:solidFill>
                  <a:schemeClr val="dk1"/>
                </a:solidFill>
                <a:latin typeface="Times New Roman"/>
                <a:ea typeface="Times New Roman"/>
                <a:cs typeface="Times New Roman"/>
                <a:sym typeface="Times New Roman"/>
              </a:rPr>
              <a:t>High accuracy but computationally expensive</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SSD (Single Shot Multibox Detector)- </a:t>
            </a:r>
            <a:r>
              <a:rPr lang="en-GB" sz="1400">
                <a:solidFill>
                  <a:schemeClr val="dk1"/>
                </a:solidFill>
                <a:latin typeface="Times New Roman"/>
                <a:ea typeface="Times New Roman"/>
                <a:cs typeface="Times New Roman"/>
                <a:sym typeface="Times New Roman"/>
              </a:rPr>
              <a:t>faster than R_CNN but less accurate than YOLO</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EfficientDet-</a:t>
            </a:r>
            <a:r>
              <a:rPr lang="en-GB" sz="1400">
                <a:solidFill>
                  <a:schemeClr val="dk1"/>
                </a:solidFill>
                <a:latin typeface="Times New Roman"/>
                <a:ea typeface="Times New Roman"/>
                <a:cs typeface="Times New Roman"/>
                <a:sym typeface="Times New Roman"/>
              </a:rPr>
              <a:t> Good balance of accuracy and efficiency but still slower than YOLO for real-time application</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CenterNet- </a:t>
            </a:r>
            <a:r>
              <a:rPr lang="en-GB" sz="1400">
                <a:solidFill>
                  <a:schemeClr val="dk1"/>
                </a:solidFill>
                <a:latin typeface="Times New Roman"/>
                <a:ea typeface="Times New Roman"/>
                <a:cs typeface="Times New Roman"/>
                <a:sym typeface="Times New Roman"/>
              </a:rPr>
              <a:t>High accuracy with keypoint-based object detection but computationally expensive</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GB" sz="1400">
                <a:solidFill>
                  <a:schemeClr val="dk1"/>
                </a:solidFill>
                <a:latin typeface="Times New Roman"/>
                <a:ea typeface="Times New Roman"/>
                <a:cs typeface="Times New Roman"/>
                <a:sym typeface="Times New Roman"/>
              </a:rPr>
              <a:t>RetinaNet- </a:t>
            </a:r>
            <a:r>
              <a:rPr lang="en-GB" sz="1400">
                <a:solidFill>
                  <a:schemeClr val="dk1"/>
                </a:solidFill>
                <a:latin typeface="Times New Roman"/>
                <a:ea typeface="Times New Roman"/>
                <a:cs typeface="Times New Roman"/>
                <a:sym typeface="Times New Roman"/>
              </a:rPr>
              <a:t>Balances speed and accuracy but less optimized for real-time applications</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GB" sz="1800">
                <a:solidFill>
                  <a:schemeClr val="dk1"/>
                </a:solidFill>
                <a:latin typeface="Times New Roman"/>
                <a:ea typeface="Times New Roman"/>
                <a:cs typeface="Times New Roman"/>
                <a:sym typeface="Times New Roman"/>
              </a:rPr>
              <a:t>YOLO was chosen for its efficiency on drone hardware with limited computing power, offering an optimal balance between speed and accuracy.</a:t>
            </a:r>
            <a:endParaRPr sz="18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2b2cd19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2b2cd197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Patrick</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GB"/>
              <a:t>Running on Jetson Nano</a:t>
            </a:r>
            <a:endParaRPr/>
          </a:p>
          <a:p>
            <a:pPr indent="0" lvl="0" marL="0" rtl="0" algn="l">
              <a:spcBef>
                <a:spcPts val="0"/>
              </a:spcBef>
              <a:spcAft>
                <a:spcPts val="0"/>
              </a:spcAft>
              <a:buClr>
                <a:schemeClr val="dk1"/>
              </a:buClr>
              <a:buSzPts val="1100"/>
              <a:buFont typeface="Arial"/>
              <a:buNone/>
            </a:pPr>
            <a:r>
              <a:rPr lang="en-GB"/>
              <a:t>Low Core GPU</a:t>
            </a:r>
            <a:endParaRPr/>
          </a:p>
          <a:p>
            <a:pPr indent="0" lvl="0" marL="0" rtl="0" algn="l">
              <a:spcBef>
                <a:spcPts val="0"/>
              </a:spcBef>
              <a:spcAft>
                <a:spcPts val="0"/>
              </a:spcAft>
              <a:buClr>
                <a:schemeClr val="dk1"/>
              </a:buClr>
              <a:buSzPts val="1100"/>
              <a:buFont typeface="Arial"/>
              <a:buNone/>
            </a:pPr>
            <a:r>
              <a:rPr lang="en-GB"/>
              <a:t>Limited Input Resolution</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GB"/>
              <a:t>Since YOLO will be running on the Jetson Nano, which has a low-power GPU, the input resolution, efficiency, and detection speed are restricted. To maximize the number of frames processed per second while operating within the Jetson Nano's power limitations, we carefully selected the most suitable YOLO model.</a:t>
            </a:r>
            <a:endParaRPr/>
          </a:p>
          <a:p>
            <a:pPr indent="0" lvl="0" marL="0" rtl="0" algn="l">
              <a:lnSpc>
                <a:spcPct val="115000"/>
              </a:lnSpc>
              <a:spcBef>
                <a:spcPts val="1200"/>
              </a:spcBef>
              <a:spcAft>
                <a:spcPts val="0"/>
              </a:spcAft>
              <a:buNone/>
            </a:pPr>
            <a:r>
              <a:rPr lang="en-GB"/>
              <a:t>We tested four different YOLO models, evaluating both their standard versions and their nano-optimized counterparts, which are designed for low-power GPUs like the Jetson Nano. Using video frames with a base input resolution of 640×640, we measured the output frame rate. The nano version of Model 10 achieved the highest frame rate, making it the optimal choice for our application</a:t>
            </a:r>
            <a:r>
              <a:rPr lang="en-GB"/>
              <a:t>.</a:t>
            </a:r>
            <a:endParaRPr/>
          </a:p>
          <a:p>
            <a:pPr indent="0" lvl="0" marL="0" rtl="0" algn="l">
              <a:spcBef>
                <a:spcPts val="120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337bb8cb7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337bb8cb7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d90409165a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d90409165a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Drone captures video using camera and sends footage to the onboard processor for analysis</a:t>
            </a:r>
            <a:endParaRPr/>
          </a:p>
          <a:p>
            <a:pPr indent="0" lvl="0" marL="0" rtl="0" algn="l">
              <a:spcBef>
                <a:spcPts val="0"/>
              </a:spcBef>
              <a:spcAft>
                <a:spcPts val="0"/>
              </a:spcAft>
              <a:buClr>
                <a:schemeClr val="dk1"/>
              </a:buClr>
              <a:buSzPts val="1100"/>
              <a:buFont typeface="Arial"/>
              <a:buNone/>
            </a:pPr>
            <a:r>
              <a:rPr lang="en-GB"/>
              <a:t>Image segmentation is applied to detect key features</a:t>
            </a:r>
            <a:endParaRPr/>
          </a:p>
          <a:p>
            <a:pPr indent="0" lvl="0" marL="0" rtl="0" algn="l">
              <a:spcBef>
                <a:spcPts val="0"/>
              </a:spcBef>
              <a:spcAft>
                <a:spcPts val="0"/>
              </a:spcAft>
              <a:buClr>
                <a:schemeClr val="dk1"/>
              </a:buClr>
              <a:buSzPts val="1100"/>
              <a:buFont typeface="Arial"/>
              <a:buNone/>
            </a:pPr>
            <a:r>
              <a:rPr lang="en-GB"/>
              <a:t>Object detection scans images for human presence</a:t>
            </a:r>
            <a:endParaRPr/>
          </a:p>
          <a:p>
            <a:pPr indent="0" lvl="0" marL="0" rtl="0" algn="l">
              <a:spcBef>
                <a:spcPts val="0"/>
              </a:spcBef>
              <a:spcAft>
                <a:spcPts val="0"/>
              </a:spcAft>
              <a:buClr>
                <a:schemeClr val="dk1"/>
              </a:buClr>
              <a:buSzPts val="1100"/>
              <a:buFont typeface="Arial"/>
              <a:buNone/>
            </a:pPr>
            <a:r>
              <a:rPr lang="en-GB"/>
              <a:t>Once human is detected a bounding box is drawn</a:t>
            </a:r>
            <a:endParaRPr/>
          </a:p>
          <a:p>
            <a:pPr indent="0" lvl="0" marL="0" rtl="0" algn="l">
              <a:spcBef>
                <a:spcPts val="0"/>
              </a:spcBef>
              <a:spcAft>
                <a:spcPts val="0"/>
              </a:spcAft>
              <a:buClr>
                <a:schemeClr val="dk1"/>
              </a:buClr>
              <a:buSzPts val="1100"/>
              <a:buFont typeface="Arial"/>
              <a:buNone/>
            </a:pPr>
            <a:r>
              <a:rPr lang="en-GB"/>
              <a:t>Detected images are transmitted to the base controller for verification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GB"/>
              <a:t>This diagram represents our Computer Vision System for human detection running on the Jetson Nano. The process begins by receiving frames from the thermal camera, where all objects on screen are identified based on their heat signatures. The detected objects are then mapped relative to the RGB camera, and each object is cropped into a separate key point or image. This approach allows us to process each image individually at a smaller resolution, optimizing the input for the YOLO model and significantly improving detection speed. Each cropped image is analyzed, and if a human is detected in any of them, a bounding box is placed on the corresponding location in the original RGB image. The annotated image is then transmitted wirelessly to the base controller. Additionally, a signal is sent to SOAR to notify them of the human detection.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29b8106f7c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29b8106f7c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Esteban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52168614d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52168614d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The Sparrow GUI system acts as the command center for our drone operations.</a:t>
            </a:r>
            <a:endParaRPr/>
          </a:p>
          <a:p>
            <a:pPr indent="0" lvl="0" marL="0" rtl="0" algn="l">
              <a:lnSpc>
                <a:spcPct val="115000"/>
              </a:lnSpc>
              <a:spcBef>
                <a:spcPts val="1200"/>
              </a:spcBef>
              <a:spcAft>
                <a:spcPts val="0"/>
              </a:spcAft>
              <a:buClr>
                <a:schemeClr val="dk1"/>
              </a:buClr>
              <a:buSzPts val="1100"/>
              <a:buFont typeface="Arial"/>
              <a:buNone/>
            </a:pPr>
            <a:r>
              <a:rPr lang="en-GB"/>
              <a:t>On the left, you can see the interface. The GUI displays a live image  feed from the drones — both RGB and thermal — which helps our team visualize what the drones are detecting.</a:t>
            </a:r>
            <a:endParaRPr/>
          </a:p>
          <a:p>
            <a:pPr indent="0" lvl="0" marL="0" rtl="0" algn="l">
              <a:lnSpc>
                <a:spcPct val="115000"/>
              </a:lnSpc>
              <a:spcBef>
                <a:spcPts val="1200"/>
              </a:spcBef>
              <a:spcAft>
                <a:spcPts val="0"/>
              </a:spcAft>
              <a:buClr>
                <a:schemeClr val="dk1"/>
              </a:buClr>
              <a:buSzPts val="1100"/>
              <a:buFont typeface="Arial"/>
              <a:buNone/>
            </a:pPr>
            <a:r>
              <a:rPr lang="en-GB"/>
              <a:t>We also integrated GPS tracking to show the positions of both the drone and the base station. This is key for coordination during a mission.</a:t>
            </a:r>
            <a:endParaRPr/>
          </a:p>
          <a:p>
            <a:pPr indent="0" lvl="0" marL="0" rtl="0" algn="l">
              <a:lnSpc>
                <a:spcPct val="115000"/>
              </a:lnSpc>
              <a:spcBef>
                <a:spcPts val="1200"/>
              </a:spcBef>
              <a:spcAft>
                <a:spcPts val="0"/>
              </a:spcAft>
              <a:buClr>
                <a:schemeClr val="dk1"/>
              </a:buClr>
              <a:buSzPts val="1100"/>
              <a:buFont typeface="Arial"/>
              <a:buNone/>
            </a:pPr>
            <a:r>
              <a:rPr lang="en-GB"/>
              <a:t>The GUI supports full-screen mode and is optimized for touchscreen use, making it flexible for field deployment.</a:t>
            </a:r>
            <a:endParaRPr/>
          </a:p>
          <a:p>
            <a:pPr indent="0" lvl="0" marL="0" rtl="0" algn="l">
              <a:lnSpc>
                <a:spcPct val="115000"/>
              </a:lnSpc>
              <a:spcBef>
                <a:spcPts val="1200"/>
              </a:spcBef>
              <a:spcAft>
                <a:spcPts val="0"/>
              </a:spcAft>
              <a:buClr>
                <a:schemeClr val="dk1"/>
              </a:buClr>
              <a:buSzPts val="1100"/>
              <a:buFont typeface="Arial"/>
              <a:buNone/>
            </a:pPr>
            <a:r>
              <a:rPr lang="en-GB"/>
              <a:t>Users can toggle the display layout between RGB only, thermal only, or both views at once depending on the situation.</a:t>
            </a:r>
            <a:endParaRPr/>
          </a:p>
          <a:p>
            <a:pPr indent="0" lvl="0" marL="0" rtl="0" algn="l">
              <a:lnSpc>
                <a:spcPct val="115000"/>
              </a:lnSpc>
              <a:spcBef>
                <a:spcPts val="1200"/>
              </a:spcBef>
              <a:spcAft>
                <a:spcPts val="0"/>
              </a:spcAft>
              <a:buClr>
                <a:schemeClr val="dk1"/>
              </a:buClr>
              <a:buSzPts val="1100"/>
              <a:buFont typeface="Arial"/>
              <a:buNone/>
            </a:pPr>
            <a:r>
              <a:rPr lang="en-GB"/>
              <a:t>All image data is transmitted using MAVLink, which we chose for its lightweight and reliable communication.</a:t>
            </a:r>
            <a:endParaRPr/>
          </a:p>
          <a:p>
            <a:pPr indent="0" lvl="0" marL="0" rtl="0" algn="l">
              <a:lnSpc>
                <a:spcPct val="115000"/>
              </a:lnSpc>
              <a:spcBef>
                <a:spcPts val="1200"/>
              </a:spcBef>
              <a:spcAft>
                <a:spcPts val="0"/>
              </a:spcAft>
              <a:buClr>
                <a:schemeClr val="dk1"/>
              </a:buClr>
              <a:buSzPts val="1100"/>
              <a:buFont typeface="Arial"/>
              <a:buNone/>
            </a:pPr>
            <a:r>
              <a:rPr lang="en-GB"/>
              <a:t>Lastly, we added a custom battery level indicator so operators can monitor power levels during flight.”</a:t>
            </a:r>
            <a:endParaRPr/>
          </a:p>
          <a:p>
            <a:pPr indent="0" lvl="0" marL="0" rtl="0" algn="l">
              <a:spcBef>
                <a:spcPts val="120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4b8a0cff4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4b8a0cff4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GB"/>
              <a:t>To begin our testing process, we first programmed the STM32 microcontroller to blink an LED as a simple yet effective way to verify that the chip was functioning correctly. This basic test confirmed that the microcontroller was receiving power, the development environment was properly set up, and communication between the STM32 and our programming tools was successful. It also served as a foundational step before moving on to more complex tasks.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4b8a0cff4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4b8a0cff4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1000"/>
              </a:spcAft>
              <a:buClr>
                <a:schemeClr val="dk1"/>
              </a:buClr>
              <a:buSzPts val="1100"/>
              <a:buFont typeface="Arial"/>
              <a:buNone/>
            </a:pPr>
            <a:r>
              <a:rPr lang="en-GB"/>
              <a:t>To test our GPS, we went outside of Addition Financial Arena to verify that we were able to receive coordinates. It the top left, you can see the coordinates we received. Once we received these coordinates, we compared them to our known location, as seen in the bottom left. Since one meter is approximately equal to 0.00001 degrees in both latitude and longitude, our results are only off by about 2 meters in each direction. To further verify it’s functionality, we then input our measured coordinates into Google Maps, as seen on the right.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b8a0cff4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b8a0cff4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tested each regulator at various input voltages and output loads to verify their performance and reliability. The 3.3V regulator, expected to support loads below 1A, showed slightly lower output voltages under heavier loads. However, under typical expected conditions, it maintains a fairly stable output near 2.93V. </a:t>
            </a:r>
            <a:br>
              <a:rPr lang="en-GB"/>
            </a:br>
            <a:br>
              <a:rPr lang="en-GB"/>
            </a:br>
            <a:r>
              <a:rPr lang="en-GB"/>
              <a:t>The 5V regulator, designed to supply around 1A, delivered consistent performance across a range of input voltages and increasing loads, maintaining an output close to 5V. </a:t>
            </a:r>
            <a:br>
              <a:rPr lang="en-GB"/>
            </a:br>
            <a:br>
              <a:rPr lang="en-GB"/>
            </a:br>
            <a:r>
              <a:rPr lang="en-GB"/>
              <a:t>The 12V regulator, which is intended to handle up to 2A, remained the most stable, with output voltages staying very close to the target — from 11.95V down to 11.64V as the load increased. Overall, each regulator demonstrates it can deliver sufficient and reliable power for its target load range under various operating conditions.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b8a0cff4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b8a0cff4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powered all system peripherals using the battery array for a continuous 30-minute period to evaluate the accuracy of the BMS's battery charge level readings. During this time, we periodically compared the BMS-reported charge levels with actual voltage measurements taken using a multimeter. </a:t>
            </a:r>
            <a:br>
              <a:rPr lang="en-GB"/>
            </a:br>
            <a:br>
              <a:rPr lang="en-GB"/>
            </a:br>
            <a:r>
              <a:rPr lang="en-GB"/>
              <a:t>The purpose of this test was to assess the reliability of the BMS in real-time operation, particularly under typical system load conditions. The results showed consistency between the BMS readings and actual values, with discrepancies never exceeding 4%, indicating that the BMS provides sufficiently accurate monitoring for our application.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52168614db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52168614db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t>This slide highlights the core of the computer vision system developed for Sparrow.</a:t>
            </a:r>
            <a:endParaRPr/>
          </a:p>
          <a:p>
            <a:pPr indent="0" lvl="0" marL="0" rtl="0" algn="l">
              <a:lnSpc>
                <a:spcPct val="115000"/>
              </a:lnSpc>
              <a:spcBef>
                <a:spcPts val="1200"/>
              </a:spcBef>
              <a:spcAft>
                <a:spcPts val="0"/>
              </a:spcAft>
              <a:buClr>
                <a:schemeClr val="dk1"/>
              </a:buClr>
              <a:buSzPts val="1100"/>
              <a:buFont typeface="Arial"/>
              <a:buNone/>
            </a:pPr>
            <a:r>
              <a:rPr lang="en-GB"/>
              <a:t>On the left, you see thermal images, and on the right, RGB footage. These datasets were used to train our AI model to recognize humans from an aerial perspective.</a:t>
            </a:r>
            <a:endParaRPr/>
          </a:p>
          <a:p>
            <a:pPr indent="0" lvl="0" marL="0" rtl="0" algn="l">
              <a:lnSpc>
                <a:spcPct val="115000"/>
              </a:lnSpc>
              <a:spcBef>
                <a:spcPts val="1200"/>
              </a:spcBef>
              <a:spcAft>
                <a:spcPts val="0"/>
              </a:spcAft>
              <a:buClr>
                <a:schemeClr val="dk1"/>
              </a:buClr>
              <a:buSzPts val="1100"/>
              <a:buFont typeface="Arial"/>
              <a:buNone/>
            </a:pPr>
            <a:r>
              <a:rPr lang="en-GB"/>
              <a:t>After training on thousands of annotated images, the model reached an average precision of over 58%, which is a solid start given the challenging angles and low resolution of aerial data.</a:t>
            </a:r>
            <a:endParaRPr/>
          </a:p>
          <a:p>
            <a:pPr indent="0" lvl="0" marL="0" rtl="0" algn="l">
              <a:lnSpc>
                <a:spcPct val="115000"/>
              </a:lnSpc>
              <a:spcBef>
                <a:spcPts val="1200"/>
              </a:spcBef>
              <a:spcAft>
                <a:spcPts val="0"/>
              </a:spcAft>
              <a:buClr>
                <a:schemeClr val="dk1"/>
              </a:buClr>
              <a:buSzPts val="1100"/>
              <a:buFont typeface="Arial"/>
              <a:buNone/>
            </a:pPr>
            <a:r>
              <a:rPr lang="en-GB"/>
              <a:t>The goal here is for live-image detection. In an actual rescue scenario, this system helps locate people on the ground by analyzing the video stream from the drone. That means a rescuer doesn’t have to scan every frame — the AI highlights potential people instantly.</a:t>
            </a:r>
            <a:endParaRPr/>
          </a:p>
          <a:p>
            <a:pPr indent="0" lvl="0" marL="0" rtl="0" algn="l">
              <a:lnSpc>
                <a:spcPct val="115000"/>
              </a:lnSpc>
              <a:spcBef>
                <a:spcPts val="1200"/>
              </a:spcBef>
              <a:spcAft>
                <a:spcPts val="0"/>
              </a:spcAft>
              <a:buClr>
                <a:schemeClr val="dk1"/>
              </a:buClr>
              <a:buSzPts val="1100"/>
              <a:buFont typeface="Arial"/>
              <a:buNone/>
            </a:pPr>
            <a:r>
              <a:rPr lang="en-GB"/>
              <a:t>This gives our team a major advantage in search and rescue situations, especially in large or hard-to-reach areas.</a:t>
            </a:r>
            <a:endParaRPr/>
          </a:p>
          <a:p>
            <a:pPr indent="0" lvl="0" marL="0" rtl="0" algn="l">
              <a:spcBef>
                <a:spcPts val="120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5218e9e19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5218e9e19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d90409165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d90409165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For software testing, we have successfully set up ArduPilot and integrated wireless image transfer between the Jetson Nano and the base controller, ensuring reliable communication with good resolution. We have also tested the Nano’s ability to process and transmit frames efficiently while running YOLO for object detection. We are currently testing different YOLO models to optimize the overall performance of YOLO on the Nano, focusing on achieving the highest possible efficiency in terms of speed and accuracy. These tests help us understand the best configuration for running YOLO in real-time on the Nano. Once we finalize our trained model, we will conduct additional testing under various environmental conditions, including different lighting and weather scenarios, to ensure the system maintains high detection accuracy in any environment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5218e9e19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5218e9e19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5218e9e19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5218e9e19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project could have many improvements throughout the design. To begin, the Jetson hardware devices had many flaws coming into this project, especially the Jetson Nano as they were not meant for companion computers due to the lack of resources. The next thing was </a:t>
            </a:r>
            <a:r>
              <a:rPr lang="en-GB"/>
              <a:t>that the radio modems were not meant for relaying mesh networks as they came only with peer to peer firmware or broadcasting network despite the fact that the modems are considered the best by the MAVLink developers. The modems are also susceptible to environment interference when testing around the area, hence it is not as far as it was specified. Lastly, flooding the Jetson Nano’s MAVLink router with both flight controller data alongside image data made it worse in terms image transmission proficiency and would have been better if a flight controller did the job instead and have human detection at the base.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337bb8cb7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337bb8cb7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d90409165a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d90409165a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d90409165a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d90409165a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Thank you for watching, this has been group Sparrow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24.jpg"/><Relationship Id="rId4" Type="http://schemas.openxmlformats.org/officeDocument/2006/relationships/image" Target="../media/image27.jpg"/><Relationship Id="rId5"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1.png"/><Relationship Id="rId7"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0" y="0"/>
            <a:ext cx="9144000" cy="514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SPARROW</a:t>
            </a:r>
            <a:endParaRPr b="1">
              <a:latin typeface="Times New Roman"/>
              <a:ea typeface="Times New Roman"/>
              <a:cs typeface="Times New Roman"/>
              <a:sym typeface="Times New Roman"/>
            </a:endParaRPr>
          </a:p>
          <a:p>
            <a:pPr indent="0" lvl="0" marL="0" rtl="0" algn="ctr">
              <a:spcBef>
                <a:spcPts val="0"/>
              </a:spcBef>
              <a:spcAft>
                <a:spcPts val="0"/>
              </a:spcAft>
              <a:buNone/>
            </a:pPr>
            <a:r>
              <a:t/>
            </a:r>
            <a:endParaRPr b="1">
              <a:latin typeface="Times New Roman"/>
              <a:ea typeface="Times New Roman"/>
              <a:cs typeface="Times New Roman"/>
              <a:sym typeface="Times New Roman"/>
            </a:endParaRPr>
          </a:p>
          <a:p>
            <a:pPr indent="0" lvl="0" marL="0" rtl="0" algn="ctr">
              <a:spcBef>
                <a:spcPts val="0"/>
              </a:spcBef>
              <a:spcAft>
                <a:spcPts val="0"/>
              </a:spcAft>
              <a:buNone/>
            </a:pPr>
            <a:r>
              <a:rPr b="1" lang="en-GB" sz="1900">
                <a:latin typeface="Times New Roman"/>
                <a:ea typeface="Times New Roman"/>
                <a:cs typeface="Times New Roman"/>
                <a:sym typeface="Times New Roman"/>
              </a:rPr>
              <a:t>S</a:t>
            </a:r>
            <a:r>
              <a:rPr lang="en-GB" sz="1900">
                <a:latin typeface="Times New Roman"/>
                <a:ea typeface="Times New Roman"/>
                <a:cs typeface="Times New Roman"/>
                <a:sym typeface="Times New Roman"/>
              </a:rPr>
              <a:t>ensor </a:t>
            </a:r>
            <a:r>
              <a:rPr b="1" lang="en-GB" sz="1900">
                <a:latin typeface="Times New Roman"/>
                <a:ea typeface="Times New Roman"/>
                <a:cs typeface="Times New Roman"/>
                <a:sym typeface="Times New Roman"/>
              </a:rPr>
              <a:t>P</a:t>
            </a:r>
            <a:r>
              <a:rPr lang="en-GB" sz="1900">
                <a:latin typeface="Times New Roman"/>
                <a:ea typeface="Times New Roman"/>
                <a:cs typeface="Times New Roman"/>
                <a:sym typeface="Times New Roman"/>
              </a:rPr>
              <a:t>ackage for </a:t>
            </a:r>
            <a:r>
              <a:rPr b="1" lang="en-GB" sz="1900">
                <a:latin typeface="Times New Roman"/>
                <a:ea typeface="Times New Roman"/>
                <a:cs typeface="Times New Roman"/>
                <a:sym typeface="Times New Roman"/>
              </a:rPr>
              <a:t>A</a:t>
            </a:r>
            <a:r>
              <a:rPr lang="en-GB" sz="1900">
                <a:latin typeface="Times New Roman"/>
                <a:ea typeface="Times New Roman"/>
                <a:cs typeface="Times New Roman"/>
                <a:sym typeface="Times New Roman"/>
              </a:rPr>
              <a:t>dvanced </a:t>
            </a:r>
            <a:r>
              <a:rPr b="1" lang="en-GB" sz="1900">
                <a:latin typeface="Times New Roman"/>
                <a:ea typeface="Times New Roman"/>
                <a:cs typeface="Times New Roman"/>
                <a:sym typeface="Times New Roman"/>
              </a:rPr>
              <a:t>R</a:t>
            </a:r>
            <a:r>
              <a:rPr lang="en-GB" sz="1900">
                <a:latin typeface="Times New Roman"/>
                <a:ea typeface="Times New Roman"/>
                <a:cs typeface="Times New Roman"/>
                <a:sym typeface="Times New Roman"/>
              </a:rPr>
              <a:t>econnaissance and </a:t>
            </a:r>
            <a:r>
              <a:rPr b="1" lang="en-GB" sz="1900">
                <a:latin typeface="Times New Roman"/>
                <a:ea typeface="Times New Roman"/>
                <a:cs typeface="Times New Roman"/>
                <a:sym typeface="Times New Roman"/>
              </a:rPr>
              <a:t>R</a:t>
            </a:r>
            <a:r>
              <a:rPr lang="en-GB" sz="1900">
                <a:latin typeface="Times New Roman"/>
                <a:ea typeface="Times New Roman"/>
                <a:cs typeface="Times New Roman"/>
                <a:sym typeface="Times New Roman"/>
              </a:rPr>
              <a:t>obust </a:t>
            </a:r>
            <a:r>
              <a:rPr b="1" lang="en-GB" sz="1900">
                <a:latin typeface="Times New Roman"/>
                <a:ea typeface="Times New Roman"/>
                <a:cs typeface="Times New Roman"/>
                <a:sym typeface="Times New Roman"/>
              </a:rPr>
              <a:t>O</a:t>
            </a:r>
            <a:r>
              <a:rPr lang="en-GB" sz="1900">
                <a:latin typeface="Times New Roman"/>
                <a:ea typeface="Times New Roman"/>
                <a:cs typeface="Times New Roman"/>
                <a:sym typeface="Times New Roman"/>
              </a:rPr>
              <a:t>perational </a:t>
            </a:r>
            <a:r>
              <a:rPr b="1" lang="en-GB" sz="1900">
                <a:latin typeface="Times New Roman"/>
                <a:ea typeface="Times New Roman"/>
                <a:cs typeface="Times New Roman"/>
                <a:sym typeface="Times New Roman"/>
              </a:rPr>
              <a:t>W</a:t>
            </a:r>
            <a:r>
              <a:rPr lang="en-GB" sz="1900">
                <a:latin typeface="Times New Roman"/>
                <a:ea typeface="Times New Roman"/>
                <a:cs typeface="Times New Roman"/>
                <a:sym typeface="Times New Roman"/>
              </a:rPr>
              <a:t>orkflows</a:t>
            </a:r>
            <a:endParaRPr sz="1900">
              <a:latin typeface="Times New Roman"/>
              <a:ea typeface="Times New Roman"/>
              <a:cs typeface="Times New Roman"/>
              <a:sym typeface="Times New Roman"/>
            </a:endParaRPr>
          </a:p>
          <a:p>
            <a:pPr indent="0" lvl="0" marL="0" rtl="0" algn="ctr">
              <a:spcBef>
                <a:spcPts val="0"/>
              </a:spcBef>
              <a:spcAft>
                <a:spcPts val="0"/>
              </a:spcAft>
              <a:buNone/>
            </a:pPr>
            <a:r>
              <a:t/>
            </a:r>
            <a:endParaRPr sz="1900">
              <a:latin typeface="Times New Roman"/>
              <a:ea typeface="Times New Roman"/>
              <a:cs typeface="Times New Roman"/>
              <a:sym typeface="Times New Roman"/>
            </a:endParaRPr>
          </a:p>
          <a:p>
            <a:pPr indent="0" lvl="0" marL="0" rtl="0" algn="ctr">
              <a:spcBef>
                <a:spcPts val="0"/>
              </a:spcBef>
              <a:spcAft>
                <a:spcPts val="0"/>
              </a:spcAft>
              <a:buNone/>
            </a:pPr>
            <a:r>
              <a:rPr lang="en-GB" sz="1900">
                <a:latin typeface="Times New Roman"/>
                <a:ea typeface="Times New Roman"/>
                <a:cs typeface="Times New Roman"/>
                <a:sym typeface="Times New Roman"/>
              </a:rPr>
              <a:t>Sponsored by Lockheed Martin</a:t>
            </a:r>
            <a:endParaRPr sz="19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Meet The Team</a:t>
            </a:r>
            <a:endParaRPr b="1">
              <a:latin typeface="Times New Roman"/>
              <a:ea typeface="Times New Roman"/>
              <a:cs typeface="Times New Roman"/>
              <a:sym typeface="Times New Roman"/>
            </a:endParaRPr>
          </a:p>
        </p:txBody>
      </p:sp>
      <p:sp>
        <p:nvSpPr>
          <p:cNvPr id="60" name="Google Shape;6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61" name="Google Shape;61;p14"/>
          <p:cNvPicPr preferRelativeResize="0"/>
          <p:nvPr/>
        </p:nvPicPr>
        <p:blipFill>
          <a:blip r:embed="rId3">
            <a:alphaModFix/>
          </a:blip>
          <a:stretch>
            <a:fillRect/>
          </a:stretch>
        </p:blipFill>
        <p:spPr>
          <a:xfrm>
            <a:off x="7262561" y="1418712"/>
            <a:ext cx="1354514" cy="1308450"/>
          </a:xfrm>
          <a:prstGeom prst="rect">
            <a:avLst/>
          </a:prstGeom>
          <a:noFill/>
          <a:ln>
            <a:noFill/>
          </a:ln>
        </p:spPr>
      </p:pic>
      <p:pic>
        <p:nvPicPr>
          <p:cNvPr id="62" name="Google Shape;62;p14"/>
          <p:cNvPicPr preferRelativeResize="0"/>
          <p:nvPr/>
        </p:nvPicPr>
        <p:blipFill>
          <a:blip r:embed="rId4">
            <a:alphaModFix/>
          </a:blip>
          <a:stretch>
            <a:fillRect/>
          </a:stretch>
        </p:blipFill>
        <p:spPr>
          <a:xfrm>
            <a:off x="5671663" y="1418713"/>
            <a:ext cx="1340250" cy="1308450"/>
          </a:xfrm>
          <a:prstGeom prst="rect">
            <a:avLst/>
          </a:prstGeom>
          <a:noFill/>
          <a:ln>
            <a:noFill/>
          </a:ln>
        </p:spPr>
      </p:pic>
      <p:sp>
        <p:nvSpPr>
          <p:cNvPr id="63" name="Google Shape;63;p14"/>
          <p:cNvSpPr txBox="1"/>
          <p:nvPr/>
        </p:nvSpPr>
        <p:spPr>
          <a:xfrm>
            <a:off x="803350" y="2819525"/>
            <a:ext cx="1476300" cy="45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1"/>
                </a:solidFill>
                <a:latin typeface="Times New Roman"/>
                <a:ea typeface="Times New Roman"/>
                <a:cs typeface="Times New Roman"/>
                <a:sym typeface="Times New Roman"/>
              </a:rPr>
              <a:t>Isaiah McCarty</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i="1" lang="en-GB">
                <a:solidFill>
                  <a:schemeClr val="dk1"/>
                </a:solidFill>
                <a:latin typeface="Times New Roman"/>
                <a:ea typeface="Times New Roman"/>
                <a:cs typeface="Times New Roman"/>
                <a:sym typeface="Times New Roman"/>
              </a:rPr>
              <a:t>Electrical Engineering</a:t>
            </a:r>
            <a:endParaRPr i="1">
              <a:solidFill>
                <a:schemeClr val="dk1"/>
              </a:solidFill>
              <a:latin typeface="Times New Roman"/>
              <a:ea typeface="Times New Roman"/>
              <a:cs typeface="Times New Roman"/>
              <a:sym typeface="Times New Roman"/>
            </a:endParaRPr>
          </a:p>
        </p:txBody>
      </p:sp>
      <p:sp>
        <p:nvSpPr>
          <p:cNvPr id="64" name="Google Shape;64;p14"/>
          <p:cNvSpPr txBox="1"/>
          <p:nvPr/>
        </p:nvSpPr>
        <p:spPr>
          <a:xfrm>
            <a:off x="4054600" y="2819500"/>
            <a:ext cx="13545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solidFill>
                  <a:schemeClr val="dk1"/>
                </a:solidFill>
                <a:latin typeface="Times New Roman"/>
                <a:ea typeface="Times New Roman"/>
                <a:cs typeface="Times New Roman"/>
                <a:sym typeface="Times New Roman"/>
              </a:rPr>
              <a:t>Jack Gao</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i="1" lang="en-GB">
                <a:solidFill>
                  <a:schemeClr val="dk1"/>
                </a:solidFill>
                <a:latin typeface="Times New Roman"/>
                <a:ea typeface="Times New Roman"/>
                <a:cs typeface="Times New Roman"/>
                <a:sym typeface="Times New Roman"/>
              </a:rPr>
              <a:t>Computer Engineering</a:t>
            </a:r>
            <a:endParaRPr i="1">
              <a:solidFill>
                <a:schemeClr val="dk1"/>
              </a:solidFill>
              <a:latin typeface="Times New Roman"/>
              <a:ea typeface="Times New Roman"/>
              <a:cs typeface="Times New Roman"/>
              <a:sym typeface="Times New Roman"/>
            </a:endParaRPr>
          </a:p>
        </p:txBody>
      </p:sp>
      <p:sp>
        <p:nvSpPr>
          <p:cNvPr id="65" name="Google Shape;65;p14"/>
          <p:cNvSpPr txBox="1"/>
          <p:nvPr/>
        </p:nvSpPr>
        <p:spPr>
          <a:xfrm>
            <a:off x="5671600" y="2836700"/>
            <a:ext cx="13404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Patrick Rizkalla</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i="1" lang="en-GB">
                <a:solidFill>
                  <a:schemeClr val="dk1"/>
                </a:solidFill>
                <a:latin typeface="Times New Roman"/>
                <a:ea typeface="Times New Roman"/>
                <a:cs typeface="Times New Roman"/>
                <a:sym typeface="Times New Roman"/>
              </a:rPr>
              <a:t>Computer Engineering</a:t>
            </a:r>
            <a:endParaRPr i="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
        <p:nvSpPr>
          <p:cNvPr id="66" name="Google Shape;66;p14"/>
          <p:cNvSpPr txBox="1"/>
          <p:nvPr/>
        </p:nvSpPr>
        <p:spPr>
          <a:xfrm>
            <a:off x="7251925" y="2819525"/>
            <a:ext cx="13956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Esteban Venegas</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i="1" lang="en-GB">
                <a:solidFill>
                  <a:schemeClr val="dk1"/>
                </a:solidFill>
                <a:latin typeface="Times New Roman"/>
                <a:ea typeface="Times New Roman"/>
                <a:cs typeface="Times New Roman"/>
                <a:sym typeface="Times New Roman"/>
              </a:rPr>
              <a:t>Computer Engineering</a:t>
            </a:r>
            <a:endParaRPr i="1" sz="1800">
              <a:solidFill>
                <a:schemeClr val="dk2"/>
              </a:solidFill>
              <a:latin typeface="Times New Roman"/>
              <a:ea typeface="Times New Roman"/>
              <a:cs typeface="Times New Roman"/>
              <a:sym typeface="Times New Roman"/>
            </a:endParaRPr>
          </a:p>
        </p:txBody>
      </p:sp>
      <p:sp>
        <p:nvSpPr>
          <p:cNvPr id="67" name="Google Shape;67;p14"/>
          <p:cNvSpPr txBox="1"/>
          <p:nvPr/>
        </p:nvSpPr>
        <p:spPr>
          <a:xfrm>
            <a:off x="2515475" y="2836700"/>
            <a:ext cx="1414800" cy="7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Max Hoffner</a:t>
            </a:r>
            <a:endParaRPr>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rPr i="1" lang="en-GB">
                <a:solidFill>
                  <a:schemeClr val="dk1"/>
                </a:solidFill>
                <a:latin typeface="Times New Roman"/>
                <a:ea typeface="Times New Roman"/>
                <a:cs typeface="Times New Roman"/>
                <a:sym typeface="Times New Roman"/>
              </a:rPr>
              <a:t>Electrical Engineering</a:t>
            </a:r>
            <a:endParaRPr i="1">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pic>
        <p:nvPicPr>
          <p:cNvPr id="68" name="Google Shape;68;p14"/>
          <p:cNvPicPr preferRelativeResize="0"/>
          <p:nvPr/>
        </p:nvPicPr>
        <p:blipFill>
          <a:blip r:embed="rId5">
            <a:alphaModFix/>
          </a:blip>
          <a:stretch>
            <a:fillRect/>
          </a:stretch>
        </p:blipFill>
        <p:spPr>
          <a:xfrm>
            <a:off x="2515463" y="1418712"/>
            <a:ext cx="1267200" cy="1308450"/>
          </a:xfrm>
          <a:prstGeom prst="rect">
            <a:avLst/>
          </a:prstGeom>
          <a:noFill/>
          <a:ln>
            <a:noFill/>
          </a:ln>
        </p:spPr>
      </p:pic>
      <p:pic>
        <p:nvPicPr>
          <p:cNvPr id="69" name="Google Shape;69;p14"/>
          <p:cNvPicPr preferRelativeResize="0"/>
          <p:nvPr/>
        </p:nvPicPr>
        <p:blipFill>
          <a:blip r:embed="rId6">
            <a:alphaModFix/>
          </a:blip>
          <a:stretch>
            <a:fillRect/>
          </a:stretch>
        </p:blipFill>
        <p:spPr>
          <a:xfrm>
            <a:off x="803338" y="1422288"/>
            <a:ext cx="1340249" cy="1301275"/>
          </a:xfrm>
          <a:prstGeom prst="rect">
            <a:avLst/>
          </a:prstGeom>
          <a:noFill/>
          <a:ln>
            <a:noFill/>
          </a:ln>
        </p:spPr>
      </p:pic>
      <p:pic>
        <p:nvPicPr>
          <p:cNvPr id="70" name="Google Shape;70;p14"/>
          <p:cNvPicPr preferRelativeResize="0"/>
          <p:nvPr/>
        </p:nvPicPr>
        <p:blipFill>
          <a:blip r:embed="rId7">
            <a:alphaModFix/>
          </a:blip>
          <a:stretch>
            <a:fillRect/>
          </a:stretch>
        </p:blipFill>
        <p:spPr>
          <a:xfrm>
            <a:off x="3989013" y="1426650"/>
            <a:ext cx="1476300" cy="12925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Motivation and Background</a:t>
            </a:r>
            <a:endParaRPr b="1">
              <a:latin typeface="Times New Roman"/>
              <a:ea typeface="Times New Roman"/>
              <a:cs typeface="Times New Roman"/>
              <a:sym typeface="Times New Roman"/>
            </a:endParaRPr>
          </a:p>
        </p:txBody>
      </p:sp>
      <p:sp>
        <p:nvSpPr>
          <p:cNvPr id="76" name="Google Shape;7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Times New Roman"/>
              <a:buChar char="●"/>
            </a:pPr>
            <a:r>
              <a:rPr lang="en-GB" sz="1600">
                <a:solidFill>
                  <a:schemeClr val="dk1"/>
                </a:solidFill>
                <a:latin typeface="Times New Roman"/>
                <a:ea typeface="Times New Roman"/>
                <a:cs typeface="Times New Roman"/>
                <a:sym typeface="Times New Roman"/>
              </a:rPr>
              <a:t>Search and rescue operations have long been a critical response to many emergency situations. Traditionally carried out by human teams, these operations have seen significant advancements with the integration of drone technology.</a:t>
            </a:r>
            <a:endParaRPr sz="16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Why Drones?</a:t>
            </a:r>
            <a:br>
              <a:rPr lang="en-GB">
                <a:solidFill>
                  <a:schemeClr val="dk1"/>
                </a:solidFill>
                <a:latin typeface="Times New Roman"/>
                <a:ea typeface="Times New Roman"/>
                <a:cs typeface="Times New Roman"/>
                <a:sym typeface="Times New Roman"/>
              </a:rPr>
            </a:br>
            <a:r>
              <a:rPr lang="en-GB">
                <a:solidFill>
                  <a:schemeClr val="dk1"/>
                </a:solidFill>
                <a:latin typeface="Times New Roman"/>
                <a:ea typeface="Times New Roman"/>
                <a:cs typeface="Times New Roman"/>
                <a:sym typeface="Times New Roman"/>
              </a:rPr>
              <a:t>- </a:t>
            </a:r>
            <a:r>
              <a:rPr lang="en-GB" sz="1400">
                <a:solidFill>
                  <a:schemeClr val="dk1"/>
                </a:solidFill>
                <a:latin typeface="Times New Roman"/>
                <a:ea typeface="Times New Roman"/>
                <a:cs typeface="Times New Roman"/>
                <a:sym typeface="Times New Roman"/>
              </a:rPr>
              <a:t>Drones offer a distinct advantage for search and rescue applications, as they are capable of providing an aerial perspective that enhances situational awareness as well as facilitates more effective search for individuals in need.</a:t>
            </a:r>
            <a:endParaRPr sz="14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GB" sz="1600">
                <a:solidFill>
                  <a:schemeClr val="dk1"/>
                </a:solidFill>
                <a:latin typeface="Times New Roman"/>
                <a:ea typeface="Times New Roman"/>
                <a:cs typeface="Times New Roman"/>
                <a:sym typeface="Times New Roman"/>
              </a:rPr>
              <a:t>To address the challenges of traditional methods and to improve the safety and efficiency of these operations, SPARROW presents an innovative solution that establishes communication between drones and a base station controller, enabling drones to scan affected areas and transmit real-time data back to the base station.</a:t>
            </a:r>
            <a:endParaRPr sz="1600">
              <a:solidFill>
                <a:schemeClr val="dk1"/>
              </a:solidFill>
              <a:latin typeface="Times New Roman"/>
              <a:ea typeface="Times New Roman"/>
              <a:cs typeface="Times New Roman"/>
              <a:sym typeface="Times New Roman"/>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78" name="Google Shape;78;p15"/>
          <p:cNvPicPr preferRelativeResize="0"/>
          <p:nvPr/>
        </p:nvPicPr>
        <p:blipFill>
          <a:blip r:embed="rId3">
            <a:alphaModFix/>
          </a:blip>
          <a:stretch>
            <a:fillRect/>
          </a:stretch>
        </p:blipFill>
        <p:spPr>
          <a:xfrm>
            <a:off x="0" y="4429125"/>
            <a:ext cx="720000" cy="72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Goals</a:t>
            </a:r>
            <a:endParaRPr b="1">
              <a:latin typeface="Times New Roman"/>
              <a:ea typeface="Times New Roman"/>
              <a:cs typeface="Times New Roman"/>
              <a:sym typeface="Times New Roman"/>
            </a:endParaRPr>
          </a:p>
        </p:txBody>
      </p:sp>
      <p:sp>
        <p:nvSpPr>
          <p:cNvPr id="84" name="Google Shape;8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Develop a drone base station that is capable of managing communication with the drone sensor package.</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Reliably send and receive data between drone and base station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Detect </a:t>
            </a:r>
            <a:r>
              <a:rPr lang="en-GB">
                <a:solidFill>
                  <a:schemeClr val="dk1"/>
                </a:solidFill>
                <a:latin typeface="Times New Roman"/>
                <a:ea typeface="Times New Roman"/>
                <a:cs typeface="Times New Roman"/>
                <a:sym typeface="Times New Roman"/>
              </a:rPr>
              <a:t>humans</a:t>
            </a:r>
            <a:r>
              <a:rPr lang="en-GB">
                <a:solidFill>
                  <a:schemeClr val="dk1"/>
                </a:solidFill>
                <a:latin typeface="Times New Roman"/>
                <a:ea typeface="Times New Roman"/>
                <a:cs typeface="Times New Roman"/>
                <a:sym typeface="Times New Roman"/>
              </a:rPr>
              <a:t> via computer vision on the sensor package and alert through </a:t>
            </a:r>
            <a:r>
              <a:rPr lang="en-GB">
                <a:solidFill>
                  <a:schemeClr val="dk1"/>
                </a:solidFill>
                <a:latin typeface="Times New Roman"/>
                <a:ea typeface="Times New Roman"/>
                <a:cs typeface="Times New Roman"/>
                <a:sym typeface="Times New Roman"/>
              </a:rPr>
              <a:t>communication to the base station</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Provide feedback from the cameras on the drone and show the footage on the ground station’s display</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Provide GPS location of base stations to mark communication starting point</a:t>
            </a:r>
            <a:endParaRPr sz="14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Stretch Goals:</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Implement a user interface on the base station display for ease of operation through a touchscreen display</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Incorporating a base station where it would allow drones to come down and recharge its battery</a:t>
            </a:r>
            <a:endParaRPr>
              <a:solidFill>
                <a:schemeClr val="dk1"/>
              </a:solidFill>
              <a:latin typeface="Times New Roman"/>
              <a:ea typeface="Times New Roman"/>
              <a:cs typeface="Times New Roman"/>
              <a:sym typeface="Times New Roman"/>
            </a:endParaRPr>
          </a:p>
        </p:txBody>
      </p:sp>
      <p:sp>
        <p:nvSpPr>
          <p:cNvPr id="85" name="Google Shape;8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86" name="Google Shape;86;p16"/>
          <p:cNvPicPr preferRelativeResize="0"/>
          <p:nvPr/>
        </p:nvPicPr>
        <p:blipFill>
          <a:blip r:embed="rId3">
            <a:alphaModFix/>
          </a:blip>
          <a:stretch>
            <a:fillRect/>
          </a:stretch>
        </p:blipFill>
        <p:spPr>
          <a:xfrm>
            <a:off x="0" y="4436525"/>
            <a:ext cx="706976" cy="706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Objectives</a:t>
            </a:r>
            <a:endParaRPr b="1">
              <a:latin typeface="Times New Roman"/>
              <a:ea typeface="Times New Roman"/>
              <a:cs typeface="Times New Roman"/>
              <a:sym typeface="Times New Roman"/>
            </a:endParaRPr>
          </a:p>
        </p:txBody>
      </p:sp>
      <p:sp>
        <p:nvSpPr>
          <p:cNvPr id="92" name="Google Shape;9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just">
              <a:lnSpc>
                <a:spcPct val="100000"/>
              </a:lnSpc>
              <a:spcBef>
                <a:spcPts val="0"/>
              </a:spcBef>
              <a:spcAft>
                <a:spcPts val="0"/>
              </a:spcAft>
              <a:buClr>
                <a:schemeClr val="dk1"/>
              </a:buClr>
              <a:buSzPts val="2000"/>
              <a:buFont typeface="Times New Roman"/>
              <a:buChar char="●"/>
            </a:pPr>
            <a:r>
              <a:rPr b="1" lang="en-GB" sz="2000">
                <a:solidFill>
                  <a:schemeClr val="dk1"/>
                </a:solidFill>
                <a:latin typeface="Times New Roman"/>
                <a:ea typeface="Times New Roman"/>
                <a:cs typeface="Times New Roman"/>
                <a:sym typeface="Times New Roman"/>
              </a:rPr>
              <a:t>Data Transmission</a:t>
            </a:r>
            <a:r>
              <a:rPr lang="en-GB" sz="2000">
                <a:solidFill>
                  <a:schemeClr val="dk1"/>
                </a:solidFill>
                <a:latin typeface="Times New Roman"/>
                <a:ea typeface="Times New Roman"/>
                <a:cs typeface="Times New Roman"/>
                <a:sym typeface="Times New Roman"/>
              </a:rPr>
              <a:t>:</a:t>
            </a:r>
            <a:r>
              <a:rPr b="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Seamlessly transmit data and commands to the drone for effective deployment and operation.</a:t>
            </a:r>
            <a:endParaRPr sz="2000">
              <a:solidFill>
                <a:schemeClr val="dk1"/>
              </a:solidFill>
              <a:latin typeface="Times New Roman"/>
              <a:ea typeface="Times New Roman"/>
              <a:cs typeface="Times New Roman"/>
              <a:sym typeface="Times New Roman"/>
            </a:endParaRPr>
          </a:p>
          <a:p>
            <a:pPr indent="-355600" lvl="0" marL="457200" rtl="0" algn="just">
              <a:lnSpc>
                <a:spcPct val="100000"/>
              </a:lnSpc>
              <a:spcBef>
                <a:spcPts val="0"/>
              </a:spcBef>
              <a:spcAft>
                <a:spcPts val="0"/>
              </a:spcAft>
              <a:buClr>
                <a:schemeClr val="dk1"/>
              </a:buClr>
              <a:buSzPts val="2000"/>
              <a:buFont typeface="Times New Roman"/>
              <a:buChar char="●"/>
            </a:pPr>
            <a:r>
              <a:rPr b="1" lang="en-GB" sz="2000">
                <a:solidFill>
                  <a:schemeClr val="dk1"/>
                </a:solidFill>
                <a:latin typeface="Times New Roman"/>
                <a:ea typeface="Times New Roman"/>
                <a:cs typeface="Times New Roman"/>
                <a:sym typeface="Times New Roman"/>
              </a:rPr>
              <a:t>Data Reception</a:t>
            </a:r>
            <a:r>
              <a:rPr lang="en-GB" sz="2000">
                <a:solidFill>
                  <a:schemeClr val="dk1"/>
                </a:solidFill>
                <a:latin typeface="Times New Roman"/>
                <a:ea typeface="Times New Roman"/>
                <a:cs typeface="Times New Roman"/>
                <a:sym typeface="Times New Roman"/>
              </a:rPr>
              <a:t>:</a:t>
            </a:r>
            <a:r>
              <a:rPr b="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Receive real-time data from the drone, including their status and conditions.</a:t>
            </a:r>
            <a:endParaRPr sz="2000">
              <a:solidFill>
                <a:schemeClr val="dk1"/>
              </a:solidFill>
              <a:latin typeface="Times New Roman"/>
              <a:ea typeface="Times New Roman"/>
              <a:cs typeface="Times New Roman"/>
              <a:sym typeface="Times New Roman"/>
            </a:endParaRPr>
          </a:p>
          <a:p>
            <a:pPr indent="-355600" lvl="0" marL="457200" rtl="0" algn="just">
              <a:lnSpc>
                <a:spcPct val="100000"/>
              </a:lnSpc>
              <a:spcBef>
                <a:spcPts val="0"/>
              </a:spcBef>
              <a:spcAft>
                <a:spcPts val="0"/>
              </a:spcAft>
              <a:buClr>
                <a:schemeClr val="dk1"/>
              </a:buClr>
              <a:buSzPts val="2000"/>
              <a:buFont typeface="Times New Roman"/>
              <a:buChar char="●"/>
            </a:pPr>
            <a:r>
              <a:rPr b="1" lang="en-GB" sz="2000">
                <a:solidFill>
                  <a:schemeClr val="dk1"/>
                </a:solidFill>
                <a:latin typeface="Times New Roman"/>
                <a:ea typeface="Times New Roman"/>
                <a:cs typeface="Times New Roman"/>
                <a:sym typeface="Times New Roman"/>
              </a:rPr>
              <a:t>Automatic Search and Rescue Detection</a:t>
            </a:r>
            <a:r>
              <a:rPr lang="en-GB" sz="2000">
                <a:solidFill>
                  <a:schemeClr val="dk1"/>
                </a:solidFill>
                <a:latin typeface="Times New Roman"/>
                <a:ea typeface="Times New Roman"/>
                <a:cs typeface="Times New Roman"/>
                <a:sym typeface="Times New Roman"/>
              </a:rPr>
              <a:t>: Utilize advanced computer vision technology to automatically detect individuals in need of assistance without requiring direct human intervention.</a:t>
            </a:r>
            <a:endParaRPr sz="2000">
              <a:solidFill>
                <a:schemeClr val="dk1"/>
              </a:solidFill>
              <a:latin typeface="Times New Roman"/>
              <a:ea typeface="Times New Roman"/>
              <a:cs typeface="Times New Roman"/>
              <a:sym typeface="Times New Roman"/>
            </a:endParaRPr>
          </a:p>
          <a:p>
            <a:pPr indent="-355600" lvl="0" marL="457200" rtl="0" algn="just">
              <a:lnSpc>
                <a:spcPct val="100000"/>
              </a:lnSpc>
              <a:spcBef>
                <a:spcPts val="0"/>
              </a:spcBef>
              <a:spcAft>
                <a:spcPts val="0"/>
              </a:spcAft>
              <a:buClr>
                <a:schemeClr val="dk1"/>
              </a:buClr>
              <a:buSzPts val="2000"/>
              <a:buFont typeface="Times New Roman"/>
              <a:buChar char="●"/>
            </a:pPr>
            <a:r>
              <a:rPr b="1" lang="en-GB" sz="2000">
                <a:solidFill>
                  <a:schemeClr val="dk1"/>
                </a:solidFill>
                <a:latin typeface="Times New Roman"/>
                <a:ea typeface="Times New Roman"/>
                <a:cs typeface="Times New Roman"/>
                <a:sym typeface="Times New Roman"/>
              </a:rPr>
              <a:t>Image Display</a:t>
            </a:r>
            <a:r>
              <a:rPr lang="en-GB" sz="2000">
                <a:solidFill>
                  <a:schemeClr val="dk1"/>
                </a:solidFill>
                <a:latin typeface="Times New Roman"/>
                <a:ea typeface="Times New Roman"/>
                <a:cs typeface="Times New Roman"/>
                <a:sym typeface="Times New Roman"/>
              </a:rPr>
              <a:t>: Utilize communication </a:t>
            </a:r>
            <a:r>
              <a:rPr lang="en-GB" sz="2000">
                <a:solidFill>
                  <a:schemeClr val="dk1"/>
                </a:solidFill>
                <a:latin typeface="Times New Roman"/>
                <a:ea typeface="Times New Roman"/>
                <a:cs typeface="Times New Roman"/>
                <a:sym typeface="Times New Roman"/>
              </a:rPr>
              <a:t>protocol</a:t>
            </a:r>
            <a:r>
              <a:rPr lang="en-GB" sz="2000">
                <a:solidFill>
                  <a:schemeClr val="dk1"/>
                </a:solidFill>
                <a:latin typeface="Times New Roman"/>
                <a:ea typeface="Times New Roman"/>
                <a:cs typeface="Times New Roman"/>
                <a:sym typeface="Times New Roman"/>
              </a:rPr>
              <a:t> to send image data over the network to show the detected humans</a:t>
            </a:r>
            <a:endParaRPr sz="2000">
              <a:solidFill>
                <a:schemeClr val="dk1"/>
              </a:solidFill>
              <a:latin typeface="Times New Roman"/>
              <a:ea typeface="Times New Roman"/>
              <a:cs typeface="Times New Roman"/>
              <a:sym typeface="Times New Roman"/>
            </a:endParaRPr>
          </a:p>
        </p:txBody>
      </p:sp>
      <p:sp>
        <p:nvSpPr>
          <p:cNvPr id="93" name="Google Shape;9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94" name="Google Shape;94;p17"/>
          <p:cNvPicPr preferRelativeResize="0"/>
          <p:nvPr/>
        </p:nvPicPr>
        <p:blipFill>
          <a:blip r:embed="rId3">
            <a:alphaModFix/>
          </a:blip>
          <a:stretch>
            <a:fillRect/>
          </a:stretch>
        </p:blipFill>
        <p:spPr>
          <a:xfrm>
            <a:off x="-12" y="4423488"/>
            <a:ext cx="719999" cy="72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Engineering Requirements</a:t>
            </a:r>
            <a:endParaRPr b="1">
              <a:latin typeface="Times New Roman"/>
              <a:ea typeface="Times New Roman"/>
              <a:cs typeface="Times New Roman"/>
              <a:sym typeface="Times New Roman"/>
            </a:endParaRPr>
          </a:p>
        </p:txBody>
      </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101" name="Google Shape;101;p18"/>
          <p:cNvGraphicFramePr/>
          <p:nvPr/>
        </p:nvGraphicFramePr>
        <p:xfrm>
          <a:off x="952500" y="1047750"/>
          <a:ext cx="3000000" cy="3000000"/>
        </p:xfrm>
        <a:graphic>
          <a:graphicData uri="http://schemas.openxmlformats.org/drawingml/2006/table">
            <a:tbl>
              <a:tblPr>
                <a:noFill/>
                <a:tableStyleId>{9BEABABF-511B-4D29-9E36-947EC27D0BD4}</a:tableStyleId>
              </a:tblPr>
              <a:tblGrid>
                <a:gridCol w="3619500"/>
                <a:gridCol w="3619500"/>
              </a:tblGrid>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Engineering Requirement</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Specification</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Communication Range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highlight>
                            <a:srgbClr val="FFFF00"/>
                          </a:highlight>
                          <a:latin typeface="Times New Roman"/>
                          <a:ea typeface="Times New Roman"/>
                          <a:cs typeface="Times New Roman"/>
                          <a:sym typeface="Times New Roman"/>
                        </a:rPr>
                        <a:t>≤ 10 meters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Human Detection Accuracy</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highlight>
                            <a:srgbClr val="FFFF00"/>
                          </a:highlight>
                          <a:latin typeface="Times New Roman"/>
                          <a:ea typeface="Times New Roman"/>
                          <a:cs typeface="Times New Roman"/>
                          <a:sym typeface="Times New Roman"/>
                        </a:rPr>
                        <a:t>≥ 60%</a:t>
                      </a:r>
                      <a:endParaRPr>
                        <a:highlight>
                          <a:srgbClr val="FFFF00"/>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Maximum Latency</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highlight>
                            <a:srgbClr val="FFFF00"/>
                          </a:highlight>
                          <a:latin typeface="Times New Roman"/>
                          <a:ea typeface="Times New Roman"/>
                          <a:cs typeface="Times New Roman"/>
                          <a:sym typeface="Times New Roman"/>
                        </a:rPr>
                        <a:t>100 ms</a:t>
                      </a:r>
                      <a:endParaRPr>
                        <a:highlight>
                          <a:srgbClr val="FFFF00"/>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Human Detection Range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highlight>
                            <a:schemeClr val="lt1"/>
                          </a:highlight>
                          <a:latin typeface="Times New Roman"/>
                          <a:ea typeface="Times New Roman"/>
                          <a:cs typeface="Times New Roman"/>
                          <a:sym typeface="Times New Roman"/>
                        </a:rPr>
                        <a:t>≥ 20 meters</a:t>
                      </a:r>
                      <a:endParaRPr>
                        <a:highlight>
                          <a:schemeClr val="lt1"/>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Weight of Base Station</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 2 kilograms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System Battery Life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&gt; 1 hour</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02" name="Google Shape;102;p18"/>
          <p:cNvPicPr preferRelativeResize="0"/>
          <p:nvPr/>
        </p:nvPicPr>
        <p:blipFill>
          <a:blip r:embed="rId3">
            <a:alphaModFix/>
          </a:blip>
          <a:stretch>
            <a:fillRect/>
          </a:stretch>
        </p:blipFill>
        <p:spPr>
          <a:xfrm>
            <a:off x="0" y="4436525"/>
            <a:ext cx="706976" cy="706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9"/>
          <p:cNvPicPr preferRelativeResize="0"/>
          <p:nvPr/>
        </p:nvPicPr>
        <p:blipFill rotWithShape="1">
          <a:blip r:embed="rId3">
            <a:alphaModFix/>
          </a:blip>
          <a:srcRect b="0" l="3677" r="-5262" t="0"/>
          <a:stretch/>
        </p:blipFill>
        <p:spPr>
          <a:xfrm>
            <a:off x="1537800" y="364775"/>
            <a:ext cx="4742475" cy="4778723"/>
          </a:xfrm>
          <a:prstGeom prst="rect">
            <a:avLst/>
          </a:prstGeom>
          <a:noFill/>
          <a:ln>
            <a:noFill/>
          </a:ln>
        </p:spPr>
      </p:pic>
      <p:sp>
        <p:nvSpPr>
          <p:cNvPr id="108" name="Google Shape;108;p19"/>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House of Quality</a:t>
            </a:r>
            <a:endParaRPr/>
          </a:p>
        </p:txBody>
      </p:sp>
      <p:sp>
        <p:nvSpPr>
          <p:cNvPr id="109" name="Google Shape;10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0" name="Google Shape;110;p19"/>
          <p:cNvPicPr preferRelativeResize="0"/>
          <p:nvPr/>
        </p:nvPicPr>
        <p:blipFill>
          <a:blip r:embed="rId4">
            <a:alphaModFix/>
          </a:blip>
          <a:stretch>
            <a:fillRect/>
          </a:stretch>
        </p:blipFill>
        <p:spPr>
          <a:xfrm>
            <a:off x="-3" y="4423497"/>
            <a:ext cx="720000" cy="72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Enclosure </a:t>
            </a:r>
            <a:r>
              <a:rPr b="1" lang="en-GB">
                <a:latin typeface="Times New Roman"/>
                <a:ea typeface="Times New Roman"/>
                <a:cs typeface="Times New Roman"/>
                <a:sym typeface="Times New Roman"/>
              </a:rPr>
              <a:t>Conceptualization</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7" name="Google Shape;117;p20"/>
          <p:cNvPicPr preferRelativeResize="0"/>
          <p:nvPr/>
        </p:nvPicPr>
        <p:blipFill>
          <a:blip r:embed="rId3">
            <a:alphaModFix/>
          </a:blip>
          <a:stretch>
            <a:fillRect/>
          </a:stretch>
        </p:blipFill>
        <p:spPr>
          <a:xfrm>
            <a:off x="-3" y="4423497"/>
            <a:ext cx="720000" cy="720000"/>
          </a:xfrm>
          <a:prstGeom prst="rect">
            <a:avLst/>
          </a:prstGeom>
          <a:noFill/>
          <a:ln>
            <a:noFill/>
          </a:ln>
        </p:spPr>
      </p:pic>
      <p:pic>
        <p:nvPicPr>
          <p:cNvPr id="118" name="Google Shape;118;p20"/>
          <p:cNvPicPr preferRelativeResize="0"/>
          <p:nvPr/>
        </p:nvPicPr>
        <p:blipFill>
          <a:blip r:embed="rId4">
            <a:alphaModFix/>
          </a:blip>
          <a:stretch>
            <a:fillRect/>
          </a:stretch>
        </p:blipFill>
        <p:spPr>
          <a:xfrm>
            <a:off x="1222475" y="499475"/>
            <a:ext cx="6916500" cy="46440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nvSpPr>
        <p:spPr>
          <a:xfrm>
            <a:off x="3314900" y="3094750"/>
            <a:ext cx="946200" cy="10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24" name="Google Shape;12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sp>
        <p:nvSpPr>
          <p:cNvPr id="125" name="Google Shape;125;p21"/>
          <p:cNvSpPr txBox="1"/>
          <p:nvPr/>
        </p:nvSpPr>
        <p:spPr>
          <a:xfrm>
            <a:off x="0" y="0"/>
            <a:ext cx="9144000" cy="103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GB" sz="3000">
                <a:solidFill>
                  <a:schemeClr val="dk1"/>
                </a:solidFill>
                <a:latin typeface="Times New Roman"/>
                <a:ea typeface="Times New Roman"/>
                <a:cs typeface="Times New Roman"/>
                <a:sym typeface="Times New Roman"/>
              </a:rPr>
              <a:t>Hardware </a:t>
            </a:r>
            <a:r>
              <a:rPr b="1" lang="en-GB" sz="3000">
                <a:solidFill>
                  <a:srgbClr val="101218"/>
                </a:solidFill>
                <a:latin typeface="Times New Roman"/>
                <a:ea typeface="Times New Roman"/>
                <a:cs typeface="Times New Roman"/>
                <a:sym typeface="Times New Roman"/>
              </a:rPr>
              <a:t>Diagram</a:t>
            </a:r>
            <a:endParaRPr b="1" sz="3000">
              <a:solidFill>
                <a:srgbClr val="101218"/>
              </a:solidFill>
              <a:latin typeface="Times New Roman"/>
              <a:ea typeface="Times New Roman"/>
              <a:cs typeface="Times New Roman"/>
              <a:sym typeface="Times New Roman"/>
            </a:endParaRPr>
          </a:p>
        </p:txBody>
      </p:sp>
      <p:pic>
        <p:nvPicPr>
          <p:cNvPr id="126" name="Google Shape;126;p21"/>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127" name="Google Shape;127;p21"/>
          <p:cNvPicPr preferRelativeResize="0"/>
          <p:nvPr/>
        </p:nvPicPr>
        <p:blipFill>
          <a:blip r:embed="rId4">
            <a:alphaModFix/>
          </a:blip>
          <a:stretch>
            <a:fillRect/>
          </a:stretch>
        </p:blipFill>
        <p:spPr>
          <a:xfrm>
            <a:off x="4693865" y="2"/>
            <a:ext cx="4327289" cy="5143501"/>
          </a:xfrm>
          <a:prstGeom prst="rect">
            <a:avLst/>
          </a:prstGeom>
          <a:noFill/>
          <a:ln>
            <a:noFill/>
          </a:ln>
        </p:spPr>
      </p:pic>
      <p:sp>
        <p:nvSpPr>
          <p:cNvPr id="128" name="Google Shape;128;p21"/>
          <p:cNvSpPr txBox="1"/>
          <p:nvPr/>
        </p:nvSpPr>
        <p:spPr>
          <a:xfrm>
            <a:off x="0" y="0"/>
            <a:ext cx="4572000" cy="5143500"/>
          </a:xfrm>
          <a:prstGeom prst="rect">
            <a:avLst/>
          </a:prstGeom>
          <a:noFill/>
          <a:ln>
            <a:noFill/>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GB" sz="1200">
                <a:solidFill>
                  <a:schemeClr val="dk1"/>
                </a:solidFill>
                <a:latin typeface="Times New Roman"/>
                <a:ea typeface="Times New Roman"/>
                <a:cs typeface="Times New Roman"/>
                <a:sym typeface="Times New Roman"/>
              </a:rPr>
              <a:t>This hardware diagram for SPARROW showcases our core components and power distribution system.</a:t>
            </a:r>
            <a:endParaRPr sz="12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latin typeface="Times New Roman"/>
                <a:ea typeface="Times New Roman"/>
                <a:cs typeface="Times New Roman"/>
                <a:sym typeface="Times New Roman"/>
              </a:rPr>
              <a:t>At the heart of the system is our custom main PCB, which integrates our batteries, battery management system, GPS module, and microcontroller.</a:t>
            </a:r>
            <a:endParaRPr sz="12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latin typeface="Times New Roman"/>
                <a:ea typeface="Times New Roman"/>
                <a:cs typeface="Times New Roman"/>
                <a:sym typeface="Times New Roman"/>
              </a:rPr>
              <a:t>To meet various voltage requirements, we use three dedicated voltage regulators: 3.3V, 5V, and 12V, each placed on separate boards.</a:t>
            </a:r>
            <a:endParaRPr sz="12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latin typeface="Times New Roman"/>
                <a:ea typeface="Times New Roman"/>
                <a:cs typeface="Times New Roman"/>
                <a:sym typeface="Times New Roman"/>
              </a:rPr>
              <a:t>The main PCB also includes connectors for external components such as our radio modem, Jetson Orin Developer Kit, ensuring both power delivery and peripheral communication.</a:t>
            </a:r>
            <a:endParaRPr sz="12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GB" sz="1200">
                <a:solidFill>
                  <a:schemeClr val="dk1"/>
                </a:solidFill>
                <a:latin typeface="Times New Roman"/>
                <a:ea typeface="Times New Roman"/>
                <a:cs typeface="Times New Roman"/>
                <a:sym typeface="Times New Roman"/>
              </a:rPr>
              <a:t>Our radio modem plays a crucial role in transmitting and receiving signals to and from sensors that will be mounted on Group 22’s SOAR drones.</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Thermal Camera Part Selection</a:t>
            </a:r>
            <a:endParaRPr b="1">
              <a:latin typeface="Times New Roman"/>
              <a:ea typeface="Times New Roman"/>
              <a:cs typeface="Times New Roman"/>
              <a:sym typeface="Times New Roman"/>
            </a:endParaRPr>
          </a:p>
        </p:txBody>
      </p:sp>
      <p:sp>
        <p:nvSpPr>
          <p:cNvPr id="134" name="Google Shape;13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135" name="Google Shape;135;p22"/>
          <p:cNvPicPr preferRelativeResize="0"/>
          <p:nvPr/>
        </p:nvPicPr>
        <p:blipFill>
          <a:blip r:embed="rId3">
            <a:alphaModFix/>
          </a:blip>
          <a:stretch>
            <a:fillRect/>
          </a:stretch>
        </p:blipFill>
        <p:spPr>
          <a:xfrm>
            <a:off x="0" y="4423499"/>
            <a:ext cx="720000" cy="720001"/>
          </a:xfrm>
          <a:prstGeom prst="rect">
            <a:avLst/>
          </a:prstGeom>
          <a:noFill/>
          <a:ln>
            <a:noFill/>
          </a:ln>
        </p:spPr>
      </p:pic>
      <p:sp>
        <p:nvSpPr>
          <p:cNvPr id="136" name="Google Shape;136;p22"/>
          <p:cNvSpPr txBox="1"/>
          <p:nvPr/>
        </p:nvSpPr>
        <p:spPr>
          <a:xfrm>
            <a:off x="0" y="572700"/>
            <a:ext cx="3339600" cy="45708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lang="en-GB">
                <a:solidFill>
                  <a:schemeClr val="dk1"/>
                </a:solidFill>
                <a:latin typeface="Times New Roman"/>
                <a:ea typeface="Times New Roman"/>
                <a:cs typeface="Times New Roman"/>
                <a:sym typeface="Times New Roman"/>
              </a:rPr>
              <a:t>Despite the high cost of the FLIR Boson, the higher resolution and frames of the FLIR Boson camera provides is unmatched with the other cameras are superior. Since it is provided by Lockheed Martin, price is not a concern.</a:t>
            </a:r>
            <a:endParaRPr>
              <a:solidFill>
                <a:schemeClr val="dk1"/>
              </a:solidFill>
              <a:latin typeface="Times New Roman"/>
              <a:ea typeface="Times New Roman"/>
              <a:cs typeface="Times New Roman"/>
              <a:sym typeface="Times New Roman"/>
            </a:endParaRPr>
          </a:p>
        </p:txBody>
      </p:sp>
      <p:graphicFrame>
        <p:nvGraphicFramePr>
          <p:cNvPr id="137" name="Google Shape;137;p22"/>
          <p:cNvGraphicFramePr/>
          <p:nvPr/>
        </p:nvGraphicFramePr>
        <p:xfrm>
          <a:off x="3339450" y="485975"/>
          <a:ext cx="3000000" cy="3000000"/>
        </p:xfrm>
        <a:graphic>
          <a:graphicData uri="http://schemas.openxmlformats.org/drawingml/2006/table">
            <a:tbl>
              <a:tblPr>
                <a:noFill/>
                <a:tableStyleId>{E42BAC45-C59E-43F8-A8E8-F3F4521ABA27}</a:tableStyleId>
              </a:tblPr>
              <a:tblGrid>
                <a:gridCol w="1102575"/>
                <a:gridCol w="1072775"/>
                <a:gridCol w="1182025"/>
                <a:gridCol w="1182025"/>
                <a:gridCol w="1142300"/>
              </a:tblGrid>
              <a:tr h="720275">
                <a:tc>
                  <a:txBody>
                    <a:bodyPr/>
                    <a:lstStyle/>
                    <a:p>
                      <a:pPr indent="0" lvl="0" marL="0" rtl="0" algn="ctr">
                        <a:spcBef>
                          <a:spcPts val="0"/>
                        </a:spcBef>
                        <a:spcAft>
                          <a:spcPts val="0"/>
                        </a:spcAft>
                        <a:buNone/>
                      </a:pPr>
                      <a:r>
                        <a:t/>
                      </a:r>
                      <a:endParaRPr b="1" sz="1200">
                        <a:latin typeface="Times New Roman"/>
                        <a:ea typeface="Times New Roman"/>
                        <a:cs typeface="Times New Roman"/>
                        <a:sym typeface="Times New Roman"/>
                      </a:endParaRPr>
                    </a:p>
                  </a:txBody>
                  <a:tcPr marT="63500" marB="63500" marR="63500" marL="63500" anchor="ctr">
                    <a:lnL cap="flat" cmpd="sng" w="12700">
                      <a:solidFill>
                        <a:schemeClr val="lt1"/>
                      </a:solidFill>
                      <a:prstDash val="solid"/>
                      <a:round/>
                      <a:headEnd len="sm" w="sm" type="none"/>
                      <a:tailEnd len="sm" w="sm" type="none"/>
                    </a:lnL>
                    <a:lnT cap="flat" cmpd="sng" w="12700">
                      <a:solidFill>
                        <a:schemeClr val="lt1"/>
                      </a:solidFill>
                      <a:prstDash val="solid"/>
                      <a:round/>
                      <a:headEnd len="sm" w="sm" type="none"/>
                      <a:tailEnd len="sm" w="sm" type="none"/>
                    </a:lnT>
                    <a:solidFill>
                      <a:schemeClr val="lt1"/>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AMG8833</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MLX90640</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MLX90641</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Boson LWIR OEM Module 320</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r>
              <a:tr h="7202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Resolution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8x8 pixels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32x24 pixels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16x12 pixels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320x256 pixels or</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640x512 pixels</a:t>
                      </a:r>
                      <a:endParaRPr sz="1200">
                        <a:latin typeface="Times New Roman"/>
                        <a:ea typeface="Times New Roman"/>
                        <a:cs typeface="Times New Roman"/>
                        <a:sym typeface="Times New Roman"/>
                      </a:endParaRPr>
                    </a:p>
                  </a:txBody>
                  <a:tcPr marT="63500" marB="63500" marR="63500" marL="63500" anchor="ctr"/>
                </a:tc>
              </a:tr>
              <a:tr h="7202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FPS</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0.5 - 32</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(Programmable)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0.5 - 32</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(Programmable)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60 Hz,</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30 Hz, or</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9 Hz</a:t>
                      </a:r>
                      <a:endParaRPr sz="1200">
                        <a:latin typeface="Times New Roman"/>
                        <a:ea typeface="Times New Roman"/>
                        <a:cs typeface="Times New Roman"/>
                        <a:sym typeface="Times New Roman"/>
                      </a:endParaRPr>
                    </a:p>
                  </a:txBody>
                  <a:tcPr marT="63500" marB="63500" marR="63500" marL="63500" anchor="ctr"/>
                </a:tc>
              </a:tr>
              <a:tr h="7202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Range of Thermal Detection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0°C to 80°C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-40°C to 300°C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-40°C to 300°C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Up to 140 °C</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or </a:t>
                      </a:r>
                      <a:endParaRPr sz="1200">
                        <a:latin typeface="Times New Roman"/>
                        <a:ea typeface="Times New Roman"/>
                        <a:cs typeface="Times New Roman"/>
                        <a:sym typeface="Times New Roman"/>
                      </a:endParaRPr>
                    </a:p>
                    <a:p>
                      <a:pPr indent="0" lvl="0" marL="0" rtl="0" algn="ctr">
                        <a:spcBef>
                          <a:spcPts val="0"/>
                        </a:spcBef>
                        <a:spcAft>
                          <a:spcPts val="0"/>
                        </a:spcAft>
                        <a:buNone/>
                      </a:pPr>
                      <a:r>
                        <a:rPr lang="en-GB" sz="1200">
                          <a:latin typeface="Times New Roman"/>
                          <a:ea typeface="Times New Roman"/>
                          <a:cs typeface="Times New Roman"/>
                          <a:sym typeface="Times New Roman"/>
                        </a:rPr>
                        <a:t>Up to 500 °C</a:t>
                      </a:r>
                      <a:endParaRPr sz="1200">
                        <a:latin typeface="Times New Roman"/>
                        <a:ea typeface="Times New Roman"/>
                        <a:cs typeface="Times New Roman"/>
                        <a:sym typeface="Times New Roman"/>
                      </a:endParaRPr>
                    </a:p>
                  </a:txBody>
                  <a:tcPr marT="63500" marB="63500" marR="63500" marL="63500" anchor="ctr"/>
                </a:tc>
              </a:tr>
              <a:tr h="61445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Field of View</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45°x 45°</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55°x 35° or 110°x 70°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55°x 35° or 110°x 70°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92°x 74°</a:t>
                      </a:r>
                      <a:endParaRPr sz="1200">
                        <a:latin typeface="Times New Roman"/>
                        <a:ea typeface="Times New Roman"/>
                        <a:cs typeface="Times New Roman"/>
                        <a:sym typeface="Times New Roman"/>
                      </a:endParaRPr>
                    </a:p>
                  </a:txBody>
                  <a:tcPr marT="63500" marB="63500" marR="63500" marL="63500" anchor="ctr"/>
                </a:tc>
              </a:tr>
              <a:tr h="6451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Current Consumption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4.5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23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12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152 mA</a:t>
                      </a:r>
                      <a:endParaRPr sz="1200">
                        <a:latin typeface="Times New Roman"/>
                        <a:ea typeface="Times New Roman"/>
                        <a:cs typeface="Times New Roman"/>
                        <a:sym typeface="Times New Roman"/>
                      </a:endParaRPr>
                    </a:p>
                  </a:txBody>
                  <a:tcPr marT="63500" marB="63500" marR="63500" marL="63500" anchor="ctr"/>
                </a:tc>
              </a:tr>
              <a:tr h="4301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Cost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$44.95</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$54.99</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$44.99</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$1,959.00</a:t>
                      </a:r>
                      <a:endParaRPr sz="1200">
                        <a:latin typeface="Times New Roman"/>
                        <a:ea typeface="Times New Roman"/>
                        <a:cs typeface="Times New Roman"/>
                        <a:sym typeface="Times New Roman"/>
                      </a:endParaRPr>
                    </a:p>
                  </a:txBody>
                  <a:tcPr marT="63500" marB="63500" marR="63500" marL="6350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Regular Camera Technology Selection</a:t>
            </a:r>
            <a:endParaRPr b="1">
              <a:latin typeface="Times New Roman"/>
              <a:ea typeface="Times New Roman"/>
              <a:cs typeface="Times New Roman"/>
              <a:sym typeface="Times New Roman"/>
            </a:endParaRPr>
          </a:p>
        </p:txBody>
      </p:sp>
      <p:sp>
        <p:nvSpPr>
          <p:cNvPr id="143" name="Google Shape;143;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144" name="Google Shape;144;p23"/>
          <p:cNvGraphicFramePr/>
          <p:nvPr/>
        </p:nvGraphicFramePr>
        <p:xfrm>
          <a:off x="4439988" y="486088"/>
          <a:ext cx="3000000" cy="3000000"/>
        </p:xfrm>
        <a:graphic>
          <a:graphicData uri="http://schemas.openxmlformats.org/drawingml/2006/table">
            <a:tbl>
              <a:tblPr>
                <a:noFill/>
                <a:tableStyleId>{E42BAC45-C59E-43F8-A8E8-F3F4521ABA27}</a:tableStyleId>
              </a:tblPr>
              <a:tblGrid>
                <a:gridCol w="1294650"/>
                <a:gridCol w="1053975"/>
                <a:gridCol w="1095475"/>
                <a:gridCol w="1136975"/>
              </a:tblGrid>
              <a:tr h="616900">
                <a:tc>
                  <a:txBody>
                    <a:bodyPr/>
                    <a:lstStyle/>
                    <a:p>
                      <a:pPr indent="0" lvl="0" marL="0" rtl="0" algn="ctr">
                        <a:spcBef>
                          <a:spcPts val="0"/>
                        </a:spcBef>
                        <a:spcAft>
                          <a:spcPts val="0"/>
                        </a:spcAft>
                        <a:buNone/>
                      </a:pPr>
                      <a:r>
                        <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alpha val="0"/>
                        </a:srgbClr>
                      </a:solidFill>
                      <a:prstDash val="solid"/>
                      <a:round/>
                      <a:headEnd len="sm" w="sm" type="none"/>
                      <a:tailEnd len="sm" w="sm" type="none"/>
                    </a:lnL>
                    <a:lnT cap="flat" cmpd="sng" w="12700">
                      <a:solidFill>
                        <a:srgbClr val="000000">
                          <a:alpha val="0"/>
                        </a:srgbClr>
                      </a:solidFill>
                      <a:prstDash val="solid"/>
                      <a:round/>
                      <a:headEnd len="sm" w="sm" type="none"/>
                      <a:tailEnd len="sm" w="sm" type="none"/>
                    </a:lnT>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Ethernet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USB</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Coaxial Cables</a:t>
                      </a:r>
                      <a:endParaRPr b="1" sz="1200">
                        <a:latin typeface="Times New Roman"/>
                        <a:ea typeface="Times New Roman"/>
                        <a:cs typeface="Times New Roman"/>
                        <a:sym typeface="Times New Roman"/>
                      </a:endParaRPr>
                    </a:p>
                  </a:txBody>
                  <a:tcPr marT="63500" marB="63500" marR="63500" marL="63500" anchor="ctr">
                    <a:solidFill>
                      <a:srgbClr val="999999"/>
                    </a:solidFill>
                  </a:tcP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Reliability</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Ease of Use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Resolution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FPS</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r>
              <a:tr h="6169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Camera Range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Very Low</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Field of View</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r>
              <a:tr h="6169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Power Consumption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Size/Weight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r>
              <a:tr h="38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Cost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r>
            </a:tbl>
          </a:graphicData>
        </a:graphic>
      </p:graphicFrame>
      <p:pic>
        <p:nvPicPr>
          <p:cNvPr id="145" name="Google Shape;145;p23"/>
          <p:cNvPicPr preferRelativeResize="0"/>
          <p:nvPr/>
        </p:nvPicPr>
        <p:blipFill>
          <a:blip r:embed="rId3">
            <a:alphaModFix/>
          </a:blip>
          <a:stretch>
            <a:fillRect/>
          </a:stretch>
        </p:blipFill>
        <p:spPr>
          <a:xfrm>
            <a:off x="0" y="4423499"/>
            <a:ext cx="720000" cy="720001"/>
          </a:xfrm>
          <a:prstGeom prst="rect">
            <a:avLst/>
          </a:prstGeom>
          <a:noFill/>
          <a:ln>
            <a:noFill/>
          </a:ln>
        </p:spPr>
      </p:pic>
      <p:sp>
        <p:nvSpPr>
          <p:cNvPr id="146" name="Google Shape;146;p23"/>
          <p:cNvSpPr txBox="1"/>
          <p:nvPr/>
        </p:nvSpPr>
        <p:spPr>
          <a:xfrm>
            <a:off x="0" y="637200"/>
            <a:ext cx="4310700" cy="45063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lang="en-GB">
                <a:solidFill>
                  <a:schemeClr val="dk1"/>
                </a:solidFill>
                <a:latin typeface="Times New Roman"/>
                <a:ea typeface="Times New Roman"/>
                <a:cs typeface="Times New Roman"/>
                <a:sym typeface="Times New Roman"/>
              </a:rPr>
              <a:t>We chose a USB camera for its ease of use, affordability, reasonable performance, and high frame rates, making it a practical and reliable option, although there are minor reliability concerns.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USB</a:t>
            </a:r>
            <a:r>
              <a:rPr b="1" lang="en-GB">
                <a:latin typeface="Times New Roman"/>
                <a:ea typeface="Times New Roman"/>
                <a:cs typeface="Times New Roman"/>
                <a:sym typeface="Times New Roman"/>
              </a:rPr>
              <a:t> Camera Selection</a:t>
            </a:r>
            <a:endParaRPr b="1">
              <a:latin typeface="Times New Roman"/>
              <a:ea typeface="Times New Roman"/>
              <a:cs typeface="Times New Roman"/>
              <a:sym typeface="Times New Roman"/>
            </a:endParaRPr>
          </a:p>
        </p:txBody>
      </p:sp>
      <p:sp>
        <p:nvSpPr>
          <p:cNvPr id="152" name="Google Shape;15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153" name="Google Shape;153;p24"/>
          <p:cNvGraphicFramePr/>
          <p:nvPr/>
        </p:nvGraphicFramePr>
        <p:xfrm>
          <a:off x="4125450" y="486075"/>
          <a:ext cx="3000000" cy="3000000"/>
        </p:xfrm>
        <a:graphic>
          <a:graphicData uri="http://schemas.openxmlformats.org/drawingml/2006/table">
            <a:tbl>
              <a:tblPr>
                <a:noFill/>
                <a:tableStyleId>{E42BAC45-C59E-43F8-A8E8-F3F4521ABA27}</a:tableStyleId>
              </a:tblPr>
              <a:tblGrid>
                <a:gridCol w="1228175"/>
                <a:gridCol w="1219675"/>
                <a:gridCol w="1228175"/>
                <a:gridCol w="1219675"/>
              </a:tblGrid>
              <a:tr h="595550">
                <a:tc>
                  <a:txBody>
                    <a:bodyPr/>
                    <a:lstStyle/>
                    <a:p>
                      <a:pPr indent="0" lvl="0" marL="0" rtl="0" algn="ctr">
                        <a:spcBef>
                          <a:spcPts val="0"/>
                        </a:spcBef>
                        <a:spcAft>
                          <a:spcPts val="0"/>
                        </a:spcAft>
                        <a:buNone/>
                      </a:pPr>
                      <a:r>
                        <a:t/>
                      </a:r>
                      <a:endParaRPr b="1" sz="1200">
                        <a:solidFill>
                          <a:srgbClr val="202122"/>
                        </a:solidFill>
                        <a:latin typeface="Times New Roman"/>
                        <a:ea typeface="Times New Roman"/>
                        <a:cs typeface="Times New Roman"/>
                        <a:sym typeface="Times New Roman"/>
                      </a:endParaRPr>
                    </a:p>
                  </a:txBody>
                  <a:tcPr marT="63500" marB="63500" marR="63500" marL="63500">
                    <a:lnL cap="flat" cmpd="sng" w="12700">
                      <a:solidFill>
                        <a:srgbClr val="000000">
                          <a:alpha val="0"/>
                        </a:srgbClr>
                      </a:solidFill>
                      <a:prstDash val="solid"/>
                      <a:round/>
                      <a:headEnd len="sm" w="sm" type="none"/>
                      <a:tailEnd len="sm" w="sm" type="none"/>
                    </a:lnL>
                    <a:lnT cap="flat" cmpd="sng" w="12700">
                      <a:solidFill>
                        <a:srgbClr val="000000">
                          <a:alpha val="0"/>
                        </a:srgbClr>
                      </a:solidFill>
                      <a:prstDash val="solid"/>
                      <a:round/>
                      <a:headEnd len="sm" w="sm" type="none"/>
                      <a:tailEnd len="sm" w="sm" type="none"/>
                    </a:lnT>
                  </a:tcPr>
                </a:tc>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GXIVision</a:t>
                      </a:r>
                      <a:endParaRPr b="1" sz="1200">
                        <a:solidFill>
                          <a:srgbClr val="202122"/>
                        </a:solidFill>
                        <a:latin typeface="Times New Roman"/>
                        <a:ea typeface="Times New Roman"/>
                        <a:cs typeface="Times New Roman"/>
                        <a:sym typeface="Times New Roman"/>
                      </a:endParaRPr>
                    </a:p>
                  </a:txBody>
                  <a:tcPr marT="63500" marB="63500" marR="63500" marL="63500">
                    <a:solidFill>
                      <a:srgbClr val="999999"/>
                    </a:solidFill>
                  </a:tcPr>
                </a:tc>
                <a:tc>
                  <a:txBody>
                    <a:bodyPr/>
                    <a:lstStyle/>
                    <a:p>
                      <a:pPr indent="0" lvl="0" marL="0" rtl="0" algn="ctr">
                        <a:spcBef>
                          <a:spcPts val="0"/>
                        </a:spcBef>
                        <a:spcAft>
                          <a:spcPts val="0"/>
                        </a:spcAft>
                        <a:buNone/>
                      </a:pPr>
                      <a:r>
                        <a:rPr b="1" lang="en-GB" sz="1200">
                          <a:solidFill>
                            <a:srgbClr val="202122"/>
                          </a:solidFill>
                          <a:highlight>
                            <a:srgbClr val="FFFF00"/>
                          </a:highlight>
                          <a:latin typeface="Times New Roman"/>
                          <a:ea typeface="Times New Roman"/>
                          <a:cs typeface="Times New Roman"/>
                          <a:sym typeface="Times New Roman"/>
                        </a:rPr>
                        <a:t>ELP-SUSB1080P01-LC1100</a:t>
                      </a:r>
                      <a:endParaRPr b="1" sz="1200">
                        <a:solidFill>
                          <a:srgbClr val="202122"/>
                        </a:solidFill>
                        <a:highlight>
                          <a:srgbClr val="FFFF00"/>
                        </a:highlight>
                        <a:latin typeface="Times New Roman"/>
                        <a:ea typeface="Times New Roman"/>
                        <a:cs typeface="Times New Roman"/>
                        <a:sym typeface="Times New Roman"/>
                      </a:endParaRPr>
                    </a:p>
                  </a:txBody>
                  <a:tcPr marT="63500" marB="63500" marR="63500" marL="63500">
                    <a:solidFill>
                      <a:srgbClr val="999999"/>
                    </a:solidFill>
                  </a:tcPr>
                </a:tc>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Arducam</a:t>
                      </a:r>
                      <a:endParaRPr b="1" sz="1200">
                        <a:solidFill>
                          <a:srgbClr val="202122"/>
                        </a:solidFill>
                        <a:latin typeface="Times New Roman"/>
                        <a:ea typeface="Times New Roman"/>
                        <a:cs typeface="Times New Roman"/>
                        <a:sym typeface="Times New Roman"/>
                      </a:endParaRPr>
                    </a:p>
                  </a:txBody>
                  <a:tcPr marT="63500" marB="63500" marR="63500" marL="63500">
                    <a:solidFill>
                      <a:srgbClr val="999999"/>
                    </a:solidFill>
                  </a:tcPr>
                </a:tc>
              </a:tr>
              <a:tr h="60235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Maximum </a:t>
                      </a:r>
                      <a:r>
                        <a:rPr b="1" lang="en-GB" sz="1200">
                          <a:solidFill>
                            <a:srgbClr val="202122"/>
                          </a:solidFill>
                          <a:latin typeface="Times New Roman"/>
                          <a:ea typeface="Times New Roman"/>
                          <a:cs typeface="Times New Roman"/>
                          <a:sym typeface="Times New Roman"/>
                        </a:rPr>
                        <a:t>Resolution</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1600x1200</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1080p</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3840x2160</a:t>
                      </a:r>
                      <a:endParaRPr sz="1200">
                        <a:solidFill>
                          <a:srgbClr val="202122"/>
                        </a:solidFill>
                        <a:latin typeface="Times New Roman"/>
                        <a:ea typeface="Times New Roman"/>
                        <a:cs typeface="Times New Roman"/>
                        <a:sym typeface="Times New Roman"/>
                      </a:endParaRPr>
                    </a:p>
                  </a:txBody>
                  <a:tcPr marT="63500" marB="63500" marR="63500" marL="63500" anchor="ctr"/>
                </a:tc>
              </a:tr>
              <a:tr h="59555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Maximum Aspect Ratio</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4:3</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16:9</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16:9</a:t>
                      </a:r>
                      <a:endParaRPr sz="1200">
                        <a:solidFill>
                          <a:srgbClr val="202122"/>
                        </a:solidFill>
                        <a:latin typeface="Times New Roman"/>
                        <a:ea typeface="Times New Roman"/>
                        <a:cs typeface="Times New Roman"/>
                        <a:sym typeface="Times New Roman"/>
                      </a:endParaRPr>
                    </a:p>
                  </a:txBody>
                  <a:tcPr marT="63500" marB="63500" marR="63500" marL="63500" anchor="ctr"/>
                </a:tc>
              </a:tr>
              <a:tr h="37510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Focus Type</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Fixed</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Fixed</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Manual</a:t>
                      </a:r>
                      <a:endParaRPr sz="1200">
                        <a:solidFill>
                          <a:srgbClr val="202122"/>
                        </a:solidFill>
                        <a:latin typeface="Times New Roman"/>
                        <a:ea typeface="Times New Roman"/>
                        <a:cs typeface="Times New Roman"/>
                        <a:sym typeface="Times New Roman"/>
                      </a:endParaRPr>
                    </a:p>
                  </a:txBody>
                  <a:tcPr marT="63500" marB="63500" marR="63500" marL="63500" anchor="ctr"/>
                </a:tc>
              </a:tr>
              <a:tr h="37510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Maximum </a:t>
                      </a:r>
                      <a:r>
                        <a:rPr b="1" lang="en-GB" sz="1200">
                          <a:solidFill>
                            <a:srgbClr val="202122"/>
                          </a:solidFill>
                          <a:latin typeface="Times New Roman"/>
                          <a:ea typeface="Times New Roman"/>
                          <a:cs typeface="Times New Roman"/>
                          <a:sym typeface="Times New Roman"/>
                        </a:rPr>
                        <a:t>FPS</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60</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50</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30</a:t>
                      </a:r>
                      <a:endParaRPr sz="1200">
                        <a:solidFill>
                          <a:srgbClr val="202122"/>
                        </a:solidFill>
                        <a:latin typeface="Times New Roman"/>
                        <a:ea typeface="Times New Roman"/>
                        <a:cs typeface="Times New Roman"/>
                        <a:sym typeface="Times New Roman"/>
                      </a:endParaRPr>
                    </a:p>
                  </a:txBody>
                  <a:tcPr marT="63500" marB="63500" marR="63500" marL="63500" anchor="ctr"/>
                </a:tc>
              </a:tr>
              <a:tr h="59555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Horizontal Field of View</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179.6</a:t>
                      </a:r>
                      <a:r>
                        <a:rPr lang="en-GB" sz="1200">
                          <a:latin typeface="Times New Roman"/>
                          <a:ea typeface="Times New Roman"/>
                          <a:cs typeface="Times New Roman"/>
                          <a:sym typeface="Times New Roman"/>
                        </a:rPr>
                        <a:t>°</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70°</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110°</a:t>
                      </a:r>
                      <a:endParaRPr sz="1200">
                        <a:solidFill>
                          <a:srgbClr val="202122"/>
                        </a:solidFill>
                        <a:latin typeface="Times New Roman"/>
                        <a:ea typeface="Times New Roman"/>
                        <a:cs typeface="Times New Roman"/>
                        <a:sym typeface="Times New Roman"/>
                      </a:endParaRPr>
                    </a:p>
                  </a:txBody>
                  <a:tcPr marT="63500" marB="63500" marR="63500" marL="63500" anchor="ctr"/>
                </a:tc>
              </a:tr>
              <a:tr h="68135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Maximum Operating Current</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200 mA</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220 mA</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300 mA</a:t>
                      </a:r>
                      <a:endParaRPr sz="1200">
                        <a:solidFill>
                          <a:srgbClr val="202122"/>
                        </a:solidFill>
                        <a:latin typeface="Times New Roman"/>
                        <a:ea typeface="Times New Roman"/>
                        <a:cs typeface="Times New Roman"/>
                        <a:sym typeface="Times New Roman"/>
                      </a:endParaRPr>
                    </a:p>
                  </a:txBody>
                  <a:tcPr marT="63500" marB="63500" marR="63500" marL="63500" anchor="ctr"/>
                </a:tc>
              </a:tr>
              <a:tr h="37510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Size</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38 x 38 x 16 mm</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38 x 38 mm</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38 x 38 x 16 mm</a:t>
                      </a:r>
                      <a:endParaRPr sz="1200">
                        <a:solidFill>
                          <a:srgbClr val="202122"/>
                        </a:solidFill>
                        <a:latin typeface="Times New Roman"/>
                        <a:ea typeface="Times New Roman"/>
                        <a:cs typeface="Times New Roman"/>
                        <a:sym typeface="Times New Roman"/>
                      </a:endParaRPr>
                    </a:p>
                  </a:txBody>
                  <a:tcPr marT="63500" marB="63500" marR="63500" marL="63500" anchor="ctr"/>
                </a:tc>
              </a:tr>
              <a:tr h="375100">
                <a:tc>
                  <a:txBody>
                    <a:bodyPr/>
                    <a:lstStyle/>
                    <a:p>
                      <a:pPr indent="0" lvl="0" marL="0" rtl="0" algn="ctr">
                        <a:spcBef>
                          <a:spcPts val="0"/>
                        </a:spcBef>
                        <a:spcAft>
                          <a:spcPts val="0"/>
                        </a:spcAft>
                        <a:buNone/>
                      </a:pPr>
                      <a:r>
                        <a:rPr b="1" lang="en-GB" sz="1200">
                          <a:solidFill>
                            <a:srgbClr val="202122"/>
                          </a:solidFill>
                          <a:latin typeface="Times New Roman"/>
                          <a:ea typeface="Times New Roman"/>
                          <a:cs typeface="Times New Roman"/>
                          <a:sym typeface="Times New Roman"/>
                        </a:rPr>
                        <a:t>Cost</a:t>
                      </a:r>
                      <a:endParaRPr b="1" sz="1200">
                        <a:solidFill>
                          <a:srgbClr val="202122"/>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$68.88</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$60.90</a:t>
                      </a:r>
                      <a:endParaRPr sz="1200">
                        <a:solidFill>
                          <a:srgbClr val="202122"/>
                        </a:solidFill>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solidFill>
                            <a:srgbClr val="202122"/>
                          </a:solidFill>
                          <a:latin typeface="Times New Roman"/>
                          <a:ea typeface="Times New Roman"/>
                          <a:cs typeface="Times New Roman"/>
                          <a:sym typeface="Times New Roman"/>
                        </a:rPr>
                        <a:t>$59.99</a:t>
                      </a:r>
                      <a:endParaRPr sz="1200">
                        <a:solidFill>
                          <a:srgbClr val="202122"/>
                        </a:solidFill>
                        <a:latin typeface="Times New Roman"/>
                        <a:ea typeface="Times New Roman"/>
                        <a:cs typeface="Times New Roman"/>
                        <a:sym typeface="Times New Roman"/>
                      </a:endParaRPr>
                    </a:p>
                  </a:txBody>
                  <a:tcPr marT="63500" marB="63500" marR="63500" marL="63500" anchor="ctr"/>
                </a:tc>
              </a:tr>
            </a:tbl>
          </a:graphicData>
        </a:graphic>
      </p:graphicFrame>
      <p:pic>
        <p:nvPicPr>
          <p:cNvPr id="154" name="Google Shape;154;p24"/>
          <p:cNvPicPr preferRelativeResize="0"/>
          <p:nvPr/>
        </p:nvPicPr>
        <p:blipFill>
          <a:blip r:embed="rId3">
            <a:alphaModFix/>
          </a:blip>
          <a:stretch>
            <a:fillRect/>
          </a:stretch>
        </p:blipFill>
        <p:spPr>
          <a:xfrm>
            <a:off x="0" y="4423499"/>
            <a:ext cx="720000" cy="720001"/>
          </a:xfrm>
          <a:prstGeom prst="rect">
            <a:avLst/>
          </a:prstGeom>
          <a:noFill/>
          <a:ln>
            <a:noFill/>
          </a:ln>
        </p:spPr>
      </p:pic>
      <p:sp>
        <p:nvSpPr>
          <p:cNvPr id="155" name="Google Shape;155;p24"/>
          <p:cNvSpPr txBox="1"/>
          <p:nvPr/>
        </p:nvSpPr>
        <p:spPr>
          <a:xfrm>
            <a:off x="0" y="572775"/>
            <a:ext cx="4078800" cy="4570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GB" sz="1200">
                <a:solidFill>
                  <a:schemeClr val="dk1"/>
                </a:solidFill>
                <a:latin typeface="Times New Roman"/>
                <a:ea typeface="Times New Roman"/>
                <a:cs typeface="Times New Roman"/>
                <a:sym typeface="Times New Roman"/>
              </a:rPr>
              <a:t>We chose the ELP camera for its optimal balance of resolution, frame rate, power consumption, and cost, with the Arducam rejected due to risks with its manual focus and the GXIVision dismissed for its high cost and uncommon aspect ratio.</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GPS Module Selection</a:t>
            </a:r>
            <a:endParaRPr b="1">
              <a:latin typeface="Times New Roman"/>
              <a:ea typeface="Times New Roman"/>
              <a:cs typeface="Times New Roman"/>
              <a:sym typeface="Times New Roman"/>
            </a:endParaRPr>
          </a:p>
        </p:txBody>
      </p:sp>
      <p:graphicFrame>
        <p:nvGraphicFramePr>
          <p:cNvPr id="161" name="Google Shape;161;p25"/>
          <p:cNvGraphicFramePr/>
          <p:nvPr/>
        </p:nvGraphicFramePr>
        <p:xfrm>
          <a:off x="4161150" y="486000"/>
          <a:ext cx="3000000" cy="3000000"/>
        </p:xfrm>
        <a:graphic>
          <a:graphicData uri="http://schemas.openxmlformats.org/drawingml/2006/table">
            <a:tbl>
              <a:tblPr>
                <a:noFill/>
                <a:tableStyleId>{9BEABABF-511B-4D29-9E36-947EC27D0BD4}</a:tableStyleId>
              </a:tblPr>
              <a:tblGrid>
                <a:gridCol w="972000"/>
                <a:gridCol w="972000"/>
                <a:gridCol w="972000"/>
                <a:gridCol w="972000"/>
                <a:gridCol w="972000"/>
              </a:tblGrid>
              <a:tr h="590375">
                <a:tc>
                  <a:txBody>
                    <a:bodyPr/>
                    <a:lstStyle/>
                    <a:p>
                      <a:pPr indent="0" lvl="0" marL="0" rtl="0" algn="ctr">
                        <a:spcBef>
                          <a:spcPts val="0"/>
                        </a:spcBef>
                        <a:spcAft>
                          <a:spcPts val="0"/>
                        </a:spcAft>
                        <a:buNone/>
                      </a:pPr>
                      <a:r>
                        <a:t/>
                      </a:r>
                      <a:endParaRPr b="1" sz="1200">
                        <a:latin typeface="Times New Roman"/>
                        <a:ea typeface="Times New Roman"/>
                        <a:cs typeface="Times New Roman"/>
                        <a:sym typeface="Times New Roman"/>
                      </a:endParaRPr>
                    </a:p>
                  </a:txBody>
                  <a:tcPr marT="63500" marB="63500" marR="63500" marL="63500" anchor="ctr">
                    <a:lnL cap="flat" cmpd="sng" w="12700">
                      <a:solidFill>
                        <a:schemeClr val="lt1"/>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PA1616S</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NEO-M9N</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ZED-F9R</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SAM-M8Q</a:t>
                      </a:r>
                      <a:endParaRPr b="1" sz="1200">
                        <a:highlight>
                          <a:srgbClr val="FFFF00"/>
                        </a:highlight>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r>
              <a:tr h="5903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Accuracy</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 meters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 meters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0.01 meters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2.5 meters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094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Interfaces</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I2C, UART</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I2C, SPI, UART, USB</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I2C, SPI, UART, USB</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I2C, UART</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903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Built-In Antenna</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No</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No</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No</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85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Average Power Consumption</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~66 mW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~84 mW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~210 mW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~69 mW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903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Operating Voltage</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3.0 V - 4.3 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2.7 V - 3.6 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2.7 V - 3.6 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3.3 V - 5 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2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Cost</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$24.95</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$27.00</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$149.00</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$31.50</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62" name="Google Shape;16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163" name="Google Shape;163;p25"/>
          <p:cNvPicPr preferRelativeResize="0"/>
          <p:nvPr/>
        </p:nvPicPr>
        <p:blipFill>
          <a:blip r:embed="rId3">
            <a:alphaModFix/>
          </a:blip>
          <a:stretch>
            <a:fillRect/>
          </a:stretch>
        </p:blipFill>
        <p:spPr>
          <a:xfrm>
            <a:off x="-3" y="4423497"/>
            <a:ext cx="720000" cy="720001"/>
          </a:xfrm>
          <a:prstGeom prst="rect">
            <a:avLst/>
          </a:prstGeom>
          <a:noFill/>
          <a:ln>
            <a:noFill/>
          </a:ln>
        </p:spPr>
      </p:pic>
      <p:sp>
        <p:nvSpPr>
          <p:cNvPr id="164" name="Google Shape;164;p25"/>
          <p:cNvSpPr txBox="1"/>
          <p:nvPr/>
        </p:nvSpPr>
        <p:spPr>
          <a:xfrm>
            <a:off x="0" y="572725"/>
            <a:ext cx="4161300" cy="45708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lang="en-GB" sz="1200">
                <a:solidFill>
                  <a:schemeClr val="dk1"/>
                </a:solidFill>
                <a:latin typeface="Times New Roman"/>
                <a:ea typeface="Times New Roman"/>
                <a:cs typeface="Times New Roman"/>
                <a:sym typeface="Times New Roman"/>
              </a:rPr>
              <a:t>The SAM-M8Q GPS Module was chosen for its good accuracy, support for I2C or UART protocols, and built-in antenna, offering sufficient performance for our needs despite not being the best or cheapest option.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Display Parts Selection</a:t>
            </a:r>
            <a:endParaRPr b="1">
              <a:latin typeface="Times New Roman"/>
              <a:ea typeface="Times New Roman"/>
              <a:cs typeface="Times New Roman"/>
              <a:sym typeface="Times New Roman"/>
            </a:endParaRPr>
          </a:p>
        </p:txBody>
      </p:sp>
      <p:sp>
        <p:nvSpPr>
          <p:cNvPr id="170" name="Google Shape;17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171" name="Google Shape;171;p26"/>
          <p:cNvGraphicFramePr/>
          <p:nvPr/>
        </p:nvGraphicFramePr>
        <p:xfrm>
          <a:off x="3136588" y="572738"/>
          <a:ext cx="3000000" cy="3000000"/>
        </p:xfrm>
        <a:graphic>
          <a:graphicData uri="http://schemas.openxmlformats.org/drawingml/2006/table">
            <a:tbl>
              <a:tblPr>
                <a:noFill/>
                <a:tableStyleId>{9BEABABF-511B-4D29-9E36-947EC27D0BD4}</a:tableStyleId>
              </a:tblPr>
              <a:tblGrid>
                <a:gridCol w="1089175"/>
                <a:gridCol w="959075"/>
                <a:gridCol w="959075"/>
                <a:gridCol w="959075"/>
                <a:gridCol w="959075"/>
                <a:gridCol w="959075"/>
              </a:tblGrid>
              <a:tr h="864200">
                <a:tc>
                  <a:txBody>
                    <a:bodyPr/>
                    <a:lstStyle/>
                    <a:p>
                      <a:pPr indent="0" lvl="0" marL="0" rtl="0" algn="ctr">
                        <a:spcBef>
                          <a:spcPts val="0"/>
                        </a:spcBef>
                        <a:spcAft>
                          <a:spcPts val="0"/>
                        </a:spcAft>
                        <a:buNone/>
                      </a:pPr>
                      <a:r>
                        <a:t/>
                      </a:r>
                      <a:endParaRPr b="1" sz="1200">
                        <a:latin typeface="Times New Roman"/>
                        <a:ea typeface="Times New Roman"/>
                        <a:cs typeface="Times New Roman"/>
                        <a:sym typeface="Times New Roman"/>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HMTECH 7”</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FayTech 12.5”</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15.6 IPS</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75Hz Monitor</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highlight>
                            <a:schemeClr val="accent6"/>
                          </a:highlight>
                          <a:latin typeface="Times New Roman"/>
                          <a:ea typeface="Times New Roman"/>
                          <a:cs typeface="Times New Roman"/>
                          <a:sym typeface="Times New Roman"/>
                        </a:rPr>
                        <a:t>7” Raspberry Pi screen</a:t>
                      </a:r>
                      <a:endParaRPr b="1" sz="1200">
                        <a:highlight>
                          <a:schemeClr val="accent6"/>
                        </a:highlight>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6224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Size</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Compact</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Larger</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Too Big</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Desktop use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Compact</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85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Power Usage</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Low</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Higher</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Higher</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Higher</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Low</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02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Viewing Angles</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Wide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Wide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Wide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WIde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Wide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224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Cost</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Budget-friendly</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Expensive</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Budget-friendly</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185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Readability</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Good</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7777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Integration</a:t>
                      </a:r>
                      <a:endParaRPr b="1"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Plug-and-play</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More Complex</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More Complex</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More Complex</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Plug-</a:t>
                      </a:r>
                      <a:r>
                        <a:rPr lang="en-GB">
                          <a:latin typeface="Times New Roman"/>
                          <a:ea typeface="Times New Roman"/>
                          <a:cs typeface="Times New Roman"/>
                          <a:sym typeface="Times New Roman"/>
                        </a:rPr>
                        <a:t>and-play</a:t>
                      </a:r>
                      <a:endParaRPr>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72" name="Google Shape;172;p26"/>
          <p:cNvPicPr preferRelativeResize="0"/>
          <p:nvPr/>
        </p:nvPicPr>
        <p:blipFill>
          <a:blip r:embed="rId3">
            <a:alphaModFix/>
          </a:blip>
          <a:stretch>
            <a:fillRect/>
          </a:stretch>
        </p:blipFill>
        <p:spPr>
          <a:xfrm>
            <a:off x="0" y="4423499"/>
            <a:ext cx="719999" cy="720000"/>
          </a:xfrm>
          <a:prstGeom prst="rect">
            <a:avLst/>
          </a:prstGeom>
          <a:noFill/>
          <a:ln>
            <a:noFill/>
          </a:ln>
        </p:spPr>
      </p:pic>
      <p:sp>
        <p:nvSpPr>
          <p:cNvPr id="173" name="Google Shape;173;p26"/>
          <p:cNvSpPr txBox="1"/>
          <p:nvPr/>
        </p:nvSpPr>
        <p:spPr>
          <a:xfrm>
            <a:off x="0" y="2029825"/>
            <a:ext cx="3136500" cy="554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200">
                <a:solidFill>
                  <a:schemeClr val="dk1"/>
                </a:solidFill>
                <a:latin typeface="Times New Roman"/>
                <a:ea typeface="Times New Roman"/>
                <a:cs typeface="Times New Roman"/>
                <a:sym typeface="Times New Roman"/>
              </a:rPr>
              <a:t>We chose the 7 inch Raspberry Pi screen for its touchscreen capability and its plug and play </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Radio Modem Selection</a:t>
            </a:r>
            <a:endParaRPr b="1">
              <a:latin typeface="Times New Roman"/>
              <a:ea typeface="Times New Roman"/>
              <a:cs typeface="Times New Roman"/>
              <a:sym typeface="Times New Roman"/>
            </a:endParaRPr>
          </a:p>
        </p:txBody>
      </p:sp>
      <p:graphicFrame>
        <p:nvGraphicFramePr>
          <p:cNvPr id="179" name="Google Shape;179;p27"/>
          <p:cNvGraphicFramePr/>
          <p:nvPr/>
        </p:nvGraphicFramePr>
        <p:xfrm>
          <a:off x="4572000" y="1017725"/>
          <a:ext cx="3000000" cy="3000000"/>
        </p:xfrm>
        <a:graphic>
          <a:graphicData uri="http://schemas.openxmlformats.org/drawingml/2006/table">
            <a:tbl>
              <a:tblPr>
                <a:noFill/>
                <a:tableStyleId>{9BEABABF-511B-4D29-9E36-947EC27D0BD4}</a:tableStyleId>
              </a:tblPr>
              <a:tblGrid>
                <a:gridCol w="1143000"/>
                <a:gridCol w="1143000"/>
                <a:gridCol w="1143000"/>
                <a:gridCol w="1143000"/>
              </a:tblGrid>
              <a:tr h="515725">
                <a:tc>
                  <a:txBody>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a:txBody>
                  <a:tcPr marT="63500" marB="63500" marR="63500" marL="63500" anchor="ctr">
                    <a:lnL cap="flat" cmpd="sng" w="12700">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RFD900X-US</a:t>
                      </a:r>
                      <a:endParaRPr b="1" sz="1200">
                        <a:highlight>
                          <a:srgbClr val="FFFF00"/>
                        </a:highlight>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P900</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P900-ENC</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Frequency Band</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900 MHz</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900 MHz</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900 MHz</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MavLink Support</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Range</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&lt;40 km</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&lt;65 km</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&lt;65 km</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Data Rate</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&lt;500 kbps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&lt;276 kbps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&lt;276 kbps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Transmit Power</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100 mW - 1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100 mW - 1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Power Consumption</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&lt;4.4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9.8 W - 49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9.8 W - 49 W</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57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Cost</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$226</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$199</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$215</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180" name="Google Shape;18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181" name="Google Shape;181;p27"/>
          <p:cNvPicPr preferRelativeResize="0"/>
          <p:nvPr/>
        </p:nvPicPr>
        <p:blipFill>
          <a:blip r:embed="rId3">
            <a:alphaModFix/>
          </a:blip>
          <a:stretch>
            <a:fillRect/>
          </a:stretch>
        </p:blipFill>
        <p:spPr>
          <a:xfrm>
            <a:off x="-12" y="4423488"/>
            <a:ext cx="720000" cy="720001"/>
          </a:xfrm>
          <a:prstGeom prst="rect">
            <a:avLst/>
          </a:prstGeom>
          <a:noFill/>
          <a:ln>
            <a:noFill/>
          </a:ln>
        </p:spPr>
      </p:pic>
      <p:sp>
        <p:nvSpPr>
          <p:cNvPr id="182" name="Google Shape;182;p27"/>
          <p:cNvSpPr txBox="1"/>
          <p:nvPr/>
        </p:nvSpPr>
        <p:spPr>
          <a:xfrm>
            <a:off x="0" y="1091928"/>
            <a:ext cx="4572000" cy="405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lang="en-GB" sz="1200">
                <a:solidFill>
                  <a:schemeClr val="dk1"/>
                </a:solidFill>
                <a:latin typeface="Times New Roman"/>
                <a:ea typeface="Times New Roman"/>
                <a:cs typeface="Times New Roman"/>
                <a:sym typeface="Times New Roman"/>
              </a:rPr>
              <a:t>We selected the RFD900x-US  modem for its superior range of, ease of use, and MAVLink compatibility with Ardupilot, which simplifies setup. Despite being more expensive than alternatives, its value in range, reliability, and included components makes it a cost-effective and high-performance choice.</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Processor Part</a:t>
            </a:r>
            <a:r>
              <a:rPr b="1" lang="en-GB">
                <a:latin typeface="Times New Roman"/>
                <a:ea typeface="Times New Roman"/>
                <a:cs typeface="Times New Roman"/>
                <a:sym typeface="Times New Roman"/>
              </a:rPr>
              <a:t> Selection</a:t>
            </a:r>
            <a:endParaRPr b="1">
              <a:latin typeface="Times New Roman"/>
              <a:ea typeface="Times New Roman"/>
              <a:cs typeface="Times New Roman"/>
              <a:sym typeface="Times New Roman"/>
            </a:endParaRPr>
          </a:p>
        </p:txBody>
      </p:sp>
      <p:graphicFrame>
        <p:nvGraphicFramePr>
          <p:cNvPr id="188" name="Google Shape;188;p28"/>
          <p:cNvGraphicFramePr/>
          <p:nvPr/>
        </p:nvGraphicFramePr>
        <p:xfrm>
          <a:off x="329550" y="1088775"/>
          <a:ext cx="3000000" cy="3000000"/>
        </p:xfrm>
        <a:graphic>
          <a:graphicData uri="http://schemas.openxmlformats.org/drawingml/2006/table">
            <a:tbl>
              <a:tblPr>
                <a:noFill/>
                <a:tableStyleId>{9BEABABF-511B-4D29-9E36-947EC27D0BD4}</a:tableStyleId>
              </a:tblPr>
              <a:tblGrid>
                <a:gridCol w="1414150"/>
                <a:gridCol w="1414150"/>
                <a:gridCol w="1414150"/>
                <a:gridCol w="1414150"/>
                <a:gridCol w="1414150"/>
                <a:gridCol w="1414150"/>
              </a:tblGrid>
              <a:tr h="381000">
                <a:tc>
                  <a:txBody>
                    <a:bodyPr/>
                    <a:lstStyle/>
                    <a:p>
                      <a:pPr indent="0" lvl="0" marL="0" rtl="0" algn="l">
                        <a:spcBef>
                          <a:spcPts val="0"/>
                        </a:spcBef>
                        <a:spcAft>
                          <a:spcPts val="0"/>
                        </a:spcAft>
                        <a:buNone/>
                      </a:pPr>
                      <a:r>
                        <a:rPr b="1" lang="en-GB" sz="1200">
                          <a:latin typeface="Times New Roman"/>
                          <a:ea typeface="Times New Roman"/>
                          <a:cs typeface="Times New Roman"/>
                          <a:sym typeface="Times New Roman"/>
                        </a:rPr>
                        <a:t>Criteria/MCU</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300">
                          <a:latin typeface="Times New Roman"/>
                          <a:ea typeface="Times New Roman"/>
                          <a:cs typeface="Times New Roman"/>
                          <a:sym typeface="Times New Roman"/>
                        </a:rPr>
                        <a:t>ESP32-WROOM-32</a:t>
                      </a:r>
                      <a:endParaRPr b="1" sz="13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300">
                          <a:highlight>
                            <a:schemeClr val="accent6"/>
                          </a:highlight>
                          <a:latin typeface="Times New Roman"/>
                          <a:ea typeface="Times New Roman"/>
                          <a:cs typeface="Times New Roman"/>
                          <a:sym typeface="Times New Roman"/>
                        </a:rPr>
                        <a:t>STM32F103C8T6</a:t>
                      </a:r>
                      <a:endParaRPr b="1" sz="1300">
                        <a:highlight>
                          <a:schemeClr val="accent6"/>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300">
                          <a:latin typeface="Times New Roman"/>
                          <a:ea typeface="Times New Roman"/>
                          <a:cs typeface="Times New Roman"/>
                          <a:sym typeface="Times New Roman"/>
                        </a:rPr>
                        <a:t>Teensy 4.1</a:t>
                      </a:r>
                      <a:endParaRPr b="1" sz="13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300">
                          <a:highlight>
                            <a:schemeClr val="accent6"/>
                          </a:highlight>
                          <a:latin typeface="Times New Roman"/>
                          <a:ea typeface="Times New Roman"/>
                          <a:cs typeface="Times New Roman"/>
                          <a:sym typeface="Times New Roman"/>
                        </a:rPr>
                        <a:t>Jetson Nano</a:t>
                      </a:r>
                      <a:endParaRPr b="1" sz="1300">
                        <a:highlight>
                          <a:schemeClr val="accent6"/>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300">
                          <a:highlight>
                            <a:schemeClr val="accent6"/>
                          </a:highlight>
                          <a:latin typeface="Times New Roman"/>
                          <a:ea typeface="Times New Roman"/>
                          <a:cs typeface="Times New Roman"/>
                          <a:sym typeface="Times New Roman"/>
                        </a:rPr>
                        <a:t>Jetson AGX Orin</a:t>
                      </a:r>
                      <a:endParaRPr b="1" sz="1300">
                        <a:highlight>
                          <a:schemeClr val="accent6"/>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381000">
                <a:tc>
                  <a:txBody>
                    <a:bodyPr/>
                    <a:lstStyle/>
                    <a:p>
                      <a:pPr indent="0" lvl="0" marL="0" rtl="0" algn="l">
                        <a:spcBef>
                          <a:spcPts val="0"/>
                        </a:spcBef>
                        <a:spcAft>
                          <a:spcPts val="0"/>
                        </a:spcAft>
                        <a:buNone/>
                      </a:pPr>
                      <a:r>
                        <a:rPr b="1" lang="en-GB" sz="1200">
                          <a:latin typeface="Times New Roman"/>
                          <a:ea typeface="Times New Roman"/>
                          <a:cs typeface="Times New Roman"/>
                          <a:sym typeface="Times New Roman"/>
                        </a:rPr>
                        <a:t>Clock Speed</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Up to 240 MHz</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Up to 72 MHz</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Up to 600 MHz</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Up to 1.43 GHz</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Up to 2.2 GHz</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GB" sz="1200">
                          <a:latin typeface="Times New Roman"/>
                          <a:ea typeface="Times New Roman"/>
                          <a:cs typeface="Times New Roman"/>
                          <a:sym typeface="Times New Roman"/>
                        </a:rPr>
                        <a:t>RAM</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520 KB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20 KB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512 KB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4 GB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32 GB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GB" sz="1200">
                          <a:latin typeface="Times New Roman"/>
                          <a:ea typeface="Times New Roman"/>
                          <a:cs typeface="Times New Roman"/>
                          <a:sym typeface="Times New Roman"/>
                        </a:rPr>
                        <a:t>Flash Memory</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4 MB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64 KB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8 MB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None (Requires External)</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64 GB</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GB" sz="1200">
                          <a:latin typeface="Times New Roman"/>
                          <a:ea typeface="Times New Roman"/>
                          <a:cs typeface="Times New Roman"/>
                          <a:sym typeface="Times New Roman"/>
                        </a:rPr>
                        <a:t>Power Consumption</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Low</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Low-Moderate</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Moderate-High</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200">
                          <a:latin typeface="Times New Roman"/>
                          <a:ea typeface="Times New Roman"/>
                          <a:cs typeface="Times New Roman"/>
                          <a:sym typeface="Times New Roman"/>
                        </a:rPr>
                        <a:t>Moderate-High</a:t>
                      </a:r>
                      <a:endParaRPr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89" name="Google Shape;18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sp>
        <p:nvSpPr>
          <p:cNvPr id="190" name="Google Shape;190;p28"/>
          <p:cNvSpPr txBox="1"/>
          <p:nvPr/>
        </p:nvSpPr>
        <p:spPr>
          <a:xfrm>
            <a:off x="426300" y="3456000"/>
            <a:ext cx="8291400" cy="10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The STM32F103C8T6 Microcontroller will serve as the PCB’s functionality to forward battery data and gps data of the base station to the Jetson Orin.</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The Jetson AGX Orin will serve as the main of the ground station to display everything from image received to mission planner data.</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GB" sz="1200">
                <a:solidFill>
                  <a:schemeClr val="dk1"/>
                </a:solidFill>
                <a:latin typeface="Times New Roman"/>
                <a:ea typeface="Times New Roman"/>
                <a:cs typeface="Times New Roman"/>
                <a:sym typeface="Times New Roman"/>
              </a:rPr>
              <a:t>The Jetson Nano on the drone will route flight controller data </a:t>
            </a:r>
            <a:r>
              <a:rPr lang="en-GB" sz="1200">
                <a:solidFill>
                  <a:schemeClr val="dk1"/>
                </a:solidFill>
                <a:latin typeface="Times New Roman"/>
                <a:ea typeface="Times New Roman"/>
                <a:cs typeface="Times New Roman"/>
                <a:sym typeface="Times New Roman"/>
              </a:rPr>
              <a:t>alongside</a:t>
            </a:r>
            <a:r>
              <a:rPr lang="en-GB" sz="1200">
                <a:solidFill>
                  <a:schemeClr val="dk1"/>
                </a:solidFill>
                <a:latin typeface="Times New Roman"/>
                <a:ea typeface="Times New Roman"/>
                <a:cs typeface="Times New Roman"/>
                <a:sym typeface="Times New Roman"/>
              </a:rPr>
              <a:t> its own image data after it does the human detection.</a:t>
            </a:r>
            <a:endParaRPr sz="1200">
              <a:solidFill>
                <a:schemeClr val="dk1"/>
              </a:solidFill>
              <a:latin typeface="Times New Roman"/>
              <a:ea typeface="Times New Roman"/>
              <a:cs typeface="Times New Roman"/>
              <a:sym typeface="Times New Roman"/>
            </a:endParaRPr>
          </a:p>
        </p:txBody>
      </p:sp>
      <p:pic>
        <p:nvPicPr>
          <p:cNvPr id="191" name="Google Shape;191;p28"/>
          <p:cNvPicPr preferRelativeResize="0"/>
          <p:nvPr/>
        </p:nvPicPr>
        <p:blipFill>
          <a:blip r:embed="rId3">
            <a:alphaModFix/>
          </a:blip>
          <a:stretch>
            <a:fillRect/>
          </a:stretch>
        </p:blipFill>
        <p:spPr>
          <a:xfrm>
            <a:off x="0" y="4429125"/>
            <a:ext cx="720000" cy="720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9"/>
          <p:cNvSpPr txBox="1"/>
          <p:nvPr>
            <p:ph type="title"/>
          </p:nvPr>
        </p:nvSpPr>
        <p:spPr>
          <a:xfrm>
            <a:off x="0" y="0"/>
            <a:ext cx="91440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lang="en-GB" sz="2320">
                <a:latin typeface="Times New Roman"/>
                <a:ea typeface="Times New Roman"/>
                <a:cs typeface="Times New Roman"/>
                <a:sym typeface="Times New Roman"/>
              </a:rPr>
              <a:t>BMS Part Selection</a:t>
            </a:r>
            <a:endParaRPr b="1" sz="2320">
              <a:latin typeface="Times New Roman"/>
              <a:ea typeface="Times New Roman"/>
              <a:cs typeface="Times New Roman"/>
              <a:sym typeface="Times New Roman"/>
            </a:endParaRPr>
          </a:p>
        </p:txBody>
      </p:sp>
      <p:graphicFrame>
        <p:nvGraphicFramePr>
          <p:cNvPr id="197" name="Google Shape;197;p29"/>
          <p:cNvGraphicFramePr/>
          <p:nvPr/>
        </p:nvGraphicFramePr>
        <p:xfrm>
          <a:off x="3246450" y="572700"/>
          <a:ext cx="3000000" cy="3000000"/>
        </p:xfrm>
        <a:graphic>
          <a:graphicData uri="http://schemas.openxmlformats.org/drawingml/2006/table">
            <a:tbl>
              <a:tblPr>
                <a:noFill/>
                <a:tableStyleId>{E42BAC45-C59E-43F8-A8E8-F3F4521ABA27}</a:tableStyleId>
              </a:tblPr>
              <a:tblGrid>
                <a:gridCol w="1374575"/>
                <a:gridCol w="849875"/>
                <a:gridCol w="1145475"/>
                <a:gridCol w="886800"/>
                <a:gridCol w="886800"/>
              </a:tblGrid>
              <a:tr h="452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Criteria</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BQ76925</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BQ76920</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AD7280WBSTZ-RL</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highlight>
                            <a:srgbClr val="FFFF00"/>
                          </a:highlight>
                          <a:latin typeface="Times New Roman"/>
                          <a:ea typeface="Times New Roman"/>
                          <a:cs typeface="Times New Roman"/>
                          <a:sym typeface="Times New Roman"/>
                        </a:rPr>
                        <a:t>L9961</a:t>
                      </a:r>
                      <a:endParaRPr b="1" sz="11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r>
              <a:tr h="28757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Input Voltage (V)</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4.2 - 26.4</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4.2 - 26.4</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4.5 - 18</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4.3 - 25</a:t>
                      </a:r>
                      <a:endParaRPr sz="1100">
                        <a:latin typeface="Times New Roman"/>
                        <a:ea typeface="Times New Roman"/>
                        <a:cs typeface="Times New Roman"/>
                        <a:sym typeface="Times New Roman"/>
                      </a:endParaRPr>
                    </a:p>
                  </a:txBody>
                  <a:tcPr marT="63500" marB="63500" marR="63500" marL="63500" anchor="ctr"/>
                </a:tc>
              </a:tr>
              <a:tr h="5813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Communication Interface</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1200"/>
                        </a:spcBef>
                        <a:spcAft>
                          <a:spcPts val="1200"/>
                        </a:spcAft>
                        <a:buNone/>
                      </a:pPr>
                      <a:r>
                        <a:rPr lang="en-GB" sz="1100">
                          <a:latin typeface="Times New Roman"/>
                          <a:ea typeface="Times New Roman"/>
                          <a:cs typeface="Times New Roman"/>
                          <a:sym typeface="Times New Roman"/>
                        </a:rPr>
                        <a:t>I2C</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1200"/>
                        </a:spcBef>
                        <a:spcAft>
                          <a:spcPts val="1200"/>
                        </a:spcAft>
                        <a:buNone/>
                      </a:pPr>
                      <a:r>
                        <a:rPr lang="en-GB" sz="1100">
                          <a:latin typeface="Times New Roman"/>
                          <a:ea typeface="Times New Roman"/>
                          <a:cs typeface="Times New Roman"/>
                          <a:sym typeface="Times New Roman"/>
                        </a:rPr>
                        <a:t>I2C</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SPI</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1200"/>
                        </a:spcBef>
                        <a:spcAft>
                          <a:spcPts val="1200"/>
                        </a:spcAft>
                        <a:buNone/>
                      </a:pPr>
                      <a:r>
                        <a:rPr lang="en-GB" sz="1100">
                          <a:latin typeface="Times New Roman"/>
                          <a:ea typeface="Times New Roman"/>
                          <a:cs typeface="Times New Roman"/>
                          <a:sym typeface="Times New Roman"/>
                        </a:rPr>
                        <a:t>I2C</a:t>
                      </a:r>
                      <a:endParaRPr sz="1100">
                        <a:latin typeface="Times New Roman"/>
                        <a:ea typeface="Times New Roman"/>
                        <a:cs typeface="Times New Roman"/>
                        <a:sym typeface="Times New Roman"/>
                      </a:endParaRPr>
                    </a:p>
                  </a:txBody>
                  <a:tcPr marT="63500" marB="63500" marR="63500" marL="63500" anchor="ctr"/>
                </a:tc>
              </a:tr>
              <a:tr h="28757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Voltage Sensing</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28757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Current Sensing</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28757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Cell Balancing </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No</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452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Overvoltage Protection</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452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Undervoltage Protection</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452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Short-Circuit Protection</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452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Internal Voltage Reference</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No</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Yes</a:t>
                      </a:r>
                      <a:endParaRPr sz="1100">
                        <a:latin typeface="Times New Roman"/>
                        <a:ea typeface="Times New Roman"/>
                        <a:cs typeface="Times New Roman"/>
                        <a:sym typeface="Times New Roman"/>
                      </a:endParaRPr>
                    </a:p>
                  </a:txBody>
                  <a:tcPr marT="63500" marB="63500" marR="63500" marL="63500" anchor="ctr"/>
                </a:tc>
              </a:tr>
              <a:tr h="1000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Price</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$0.86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$1.46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$15.37</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$2.41</a:t>
                      </a:r>
                      <a:endParaRPr sz="1100">
                        <a:latin typeface="Times New Roman"/>
                        <a:ea typeface="Times New Roman"/>
                        <a:cs typeface="Times New Roman"/>
                        <a:sym typeface="Times New Roman"/>
                      </a:endParaRPr>
                    </a:p>
                  </a:txBody>
                  <a:tcPr marT="63500" marB="63500" marR="63500" marL="63500" anchor="ctr"/>
                </a:tc>
              </a:tr>
            </a:tbl>
          </a:graphicData>
        </a:graphic>
      </p:graphicFrame>
      <p:pic>
        <p:nvPicPr>
          <p:cNvPr id="198" name="Google Shape;198;p29"/>
          <p:cNvPicPr preferRelativeResize="0"/>
          <p:nvPr/>
        </p:nvPicPr>
        <p:blipFill>
          <a:blip r:embed="rId3">
            <a:alphaModFix/>
          </a:blip>
          <a:stretch>
            <a:fillRect/>
          </a:stretch>
        </p:blipFill>
        <p:spPr>
          <a:xfrm>
            <a:off x="-3" y="4423497"/>
            <a:ext cx="720000" cy="720000"/>
          </a:xfrm>
          <a:prstGeom prst="rect">
            <a:avLst/>
          </a:prstGeom>
          <a:noFill/>
          <a:ln>
            <a:noFill/>
          </a:ln>
        </p:spPr>
      </p:pic>
      <p:sp>
        <p:nvSpPr>
          <p:cNvPr id="199" name="Google Shape;19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sp>
        <p:nvSpPr>
          <p:cNvPr id="200" name="Google Shape;200;p29"/>
          <p:cNvSpPr txBox="1"/>
          <p:nvPr/>
        </p:nvSpPr>
        <p:spPr>
          <a:xfrm>
            <a:off x="0" y="2087200"/>
            <a:ext cx="32466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600">
                <a:solidFill>
                  <a:schemeClr val="dk1"/>
                </a:solidFill>
                <a:latin typeface="Times New Roman"/>
                <a:ea typeface="Times New Roman"/>
                <a:cs typeface="Times New Roman"/>
                <a:sym typeface="Times New Roman"/>
              </a:rPr>
              <a:t>We chose the L9961 because it was specifically designed by STMicroelectronics to interface with the STM32, allowing for simple and seamless integration.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0"/>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Power Tree</a:t>
            </a:r>
            <a:endParaRPr b="1">
              <a:latin typeface="Times New Roman"/>
              <a:ea typeface="Times New Roman"/>
              <a:cs typeface="Times New Roman"/>
              <a:sym typeface="Times New Roman"/>
            </a:endParaRPr>
          </a:p>
        </p:txBody>
      </p:sp>
      <p:graphicFrame>
        <p:nvGraphicFramePr>
          <p:cNvPr id="206" name="Google Shape;206;p30"/>
          <p:cNvGraphicFramePr/>
          <p:nvPr/>
        </p:nvGraphicFramePr>
        <p:xfrm>
          <a:off x="1857375" y="1068388"/>
          <a:ext cx="3000000" cy="3000000"/>
        </p:xfrm>
        <a:graphic>
          <a:graphicData uri="http://schemas.openxmlformats.org/drawingml/2006/table">
            <a:tbl>
              <a:tblPr>
                <a:noFill/>
                <a:tableStyleId>{E42BAC45-C59E-43F8-A8E8-F3F4521ABA27}</a:tableStyleId>
              </a:tblPr>
              <a:tblGrid>
                <a:gridCol w="1924050"/>
                <a:gridCol w="1228725"/>
                <a:gridCol w="1190625"/>
                <a:gridCol w="1085850"/>
              </a:tblGrid>
              <a:tr h="46085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Hardware Component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Supply Voltage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Maximum Current Draw</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Maximum Power</a:t>
                      </a:r>
                      <a:endParaRPr b="1" sz="1200">
                        <a:latin typeface="Times New Roman"/>
                        <a:ea typeface="Times New Roman"/>
                        <a:cs typeface="Times New Roman"/>
                        <a:sym typeface="Times New Roman"/>
                      </a:endParaRPr>
                    </a:p>
                  </a:txBody>
                  <a:tcPr marT="63500" marB="63500" marR="63500" marL="63500" anchor="ctr">
                    <a:solidFill>
                      <a:srgbClr val="999999"/>
                    </a:solidFill>
                  </a:tcP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Jetson AGX Orin Dev Kit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 V - 20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 3 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60 W</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HMTECH 7-inch Raspberry Pi Screen</a:t>
                      </a:r>
                      <a:endParaRPr b="1" sz="1200">
                        <a:solidFill>
                          <a:srgbClr val="FF0000"/>
                        </a:solidFill>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 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 W</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STM32F130C8T6</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 V - 3.6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150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540 mW</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RFD900x-US</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 V - 5.5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60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300 mW</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SAM-M8Q-0-10</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2.7 V - 3.6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 mA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36 mW</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L9961</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4.3 V - 25 V</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 µA</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125 µW</a:t>
                      </a:r>
                      <a:endParaRPr sz="1200">
                        <a:latin typeface="Times New Roman"/>
                        <a:ea typeface="Times New Roman"/>
                        <a:cs typeface="Times New Roman"/>
                        <a:sym typeface="Times New Roman"/>
                      </a:endParaRPr>
                    </a:p>
                  </a:txBody>
                  <a:tcPr marT="63500" marB="63500" marR="63500" marL="63500" anchor="ctr"/>
                </a:tc>
              </a:tr>
            </a:tbl>
          </a:graphicData>
        </a:graphic>
      </p:graphicFrame>
      <p:sp>
        <p:nvSpPr>
          <p:cNvPr id="207" name="Google Shape;20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08" name="Google Shape;208;p30"/>
          <p:cNvPicPr preferRelativeResize="0"/>
          <p:nvPr/>
        </p:nvPicPr>
        <p:blipFill>
          <a:blip r:embed="rId3">
            <a:alphaModFix/>
          </a:blip>
          <a:stretch>
            <a:fillRect/>
          </a:stretch>
        </p:blipFill>
        <p:spPr>
          <a:xfrm>
            <a:off x="-3" y="4423497"/>
            <a:ext cx="720000" cy="720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Battery Comparison</a:t>
            </a:r>
            <a:endParaRPr b="1">
              <a:latin typeface="Times New Roman"/>
              <a:ea typeface="Times New Roman"/>
              <a:cs typeface="Times New Roman"/>
              <a:sym typeface="Times New Roman"/>
            </a:endParaRPr>
          </a:p>
        </p:txBody>
      </p:sp>
      <p:graphicFrame>
        <p:nvGraphicFramePr>
          <p:cNvPr id="214" name="Google Shape;214;p31"/>
          <p:cNvGraphicFramePr/>
          <p:nvPr/>
        </p:nvGraphicFramePr>
        <p:xfrm>
          <a:off x="686025" y="541550"/>
          <a:ext cx="3000000" cy="3000000"/>
        </p:xfrm>
        <a:graphic>
          <a:graphicData uri="http://schemas.openxmlformats.org/drawingml/2006/table">
            <a:tbl>
              <a:tblPr>
                <a:noFill/>
                <a:tableStyleId>{E42BAC45-C59E-43F8-A8E8-F3F4521ABA27}</a:tableStyleId>
              </a:tblPr>
              <a:tblGrid>
                <a:gridCol w="1295325"/>
                <a:gridCol w="1295325"/>
                <a:gridCol w="1295325"/>
                <a:gridCol w="1295325"/>
                <a:gridCol w="1295325"/>
                <a:gridCol w="1295325"/>
              </a:tblGrid>
              <a:tr h="389800">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Criteria</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Sony VTC6</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Samsung INR18650-30Q</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LG MJ1</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Samsung INR21700-40T</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100">
                          <a:highlight>
                            <a:srgbClr val="FFFF00"/>
                          </a:highlight>
                          <a:latin typeface="Times New Roman"/>
                          <a:ea typeface="Times New Roman"/>
                          <a:cs typeface="Times New Roman"/>
                          <a:sym typeface="Times New Roman"/>
                        </a:rPr>
                        <a:t>LG INR21700-M50</a:t>
                      </a:r>
                      <a:endParaRPr b="1" sz="11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Nominal Cell Voltage (V)</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3.6</a:t>
                      </a:r>
                      <a:endParaRPr sz="1100">
                        <a:latin typeface="Times New Roman"/>
                        <a:ea typeface="Times New Roman"/>
                        <a:cs typeface="Times New Roman"/>
                        <a:sym typeface="Times New Roman"/>
                      </a:endParaRPr>
                    </a:p>
                  </a:txBody>
                  <a:tcPr marT="63500" marB="63500" marR="63500" marL="63500" anchor="ct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Energy Density (Wh/kg)</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270.4</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262.5</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300.0</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251.5</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303.2</a:t>
                      </a:r>
                      <a:endParaRPr sz="1100">
                        <a:latin typeface="Times New Roman"/>
                        <a:ea typeface="Times New Roman"/>
                        <a:cs typeface="Times New Roman"/>
                        <a:sym typeface="Times New Roman"/>
                      </a:endParaRPr>
                    </a:p>
                  </a:txBody>
                  <a:tcPr marT="63500" marB="63500" marR="63500" marL="63500" anchor="ct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Rating</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V</a:t>
                      </a:r>
                      <a:endParaRPr sz="1100">
                        <a:latin typeface="Times New Roman"/>
                        <a:ea typeface="Times New Roman"/>
                        <a:cs typeface="Times New Roman"/>
                        <a:sym typeface="Times New Roman"/>
                      </a:endParaRPr>
                    </a:p>
                    <a:p>
                      <a:pPr indent="0" lvl="0" marL="0" rtl="0" algn="ctr">
                        <a:spcBef>
                          <a:spcPts val="0"/>
                        </a:spcBef>
                        <a:spcAft>
                          <a:spcPts val="0"/>
                        </a:spcAft>
                        <a:buNone/>
                      </a:pPr>
                      <a:r>
                        <a:rPr lang="en-GB" sz="1100">
                          <a:latin typeface="Times New Roman"/>
                          <a:ea typeface="Times New Roman"/>
                          <a:cs typeface="Times New Roman"/>
                          <a:sym typeface="Times New Roman"/>
                        </a:rPr>
                        <a:t>3 Ah</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V</a:t>
                      </a:r>
                      <a:endParaRPr sz="1100">
                        <a:latin typeface="Times New Roman"/>
                        <a:ea typeface="Times New Roman"/>
                        <a:cs typeface="Times New Roman"/>
                        <a:sym typeface="Times New Roman"/>
                      </a:endParaRPr>
                    </a:p>
                    <a:p>
                      <a:pPr indent="0" lvl="0" marL="0" rtl="0" algn="ctr">
                        <a:spcBef>
                          <a:spcPts val="0"/>
                        </a:spcBef>
                        <a:spcAft>
                          <a:spcPts val="0"/>
                        </a:spcAft>
                        <a:buNone/>
                      </a:pPr>
                      <a:r>
                        <a:rPr lang="en-GB" sz="1100">
                          <a:latin typeface="Times New Roman"/>
                          <a:ea typeface="Times New Roman"/>
                          <a:cs typeface="Times New Roman"/>
                          <a:sym typeface="Times New Roman"/>
                        </a:rPr>
                        <a:t>3 Ah</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V</a:t>
                      </a:r>
                      <a:endParaRPr sz="1100">
                        <a:latin typeface="Times New Roman"/>
                        <a:ea typeface="Times New Roman"/>
                        <a:cs typeface="Times New Roman"/>
                        <a:sym typeface="Times New Roman"/>
                      </a:endParaRPr>
                    </a:p>
                    <a:p>
                      <a:pPr indent="0" lvl="0" marL="0" rtl="0" algn="ctr">
                        <a:spcBef>
                          <a:spcPts val="0"/>
                        </a:spcBef>
                        <a:spcAft>
                          <a:spcPts val="0"/>
                        </a:spcAft>
                        <a:buNone/>
                      </a:pPr>
                      <a:r>
                        <a:rPr lang="en-GB" sz="1100">
                          <a:latin typeface="Times New Roman"/>
                          <a:ea typeface="Times New Roman"/>
                          <a:cs typeface="Times New Roman"/>
                          <a:sym typeface="Times New Roman"/>
                        </a:rPr>
                        <a:t>3.5 Ah</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V</a:t>
                      </a:r>
                      <a:endParaRPr sz="1100">
                        <a:latin typeface="Times New Roman"/>
                        <a:ea typeface="Times New Roman"/>
                        <a:cs typeface="Times New Roman"/>
                        <a:sym typeface="Times New Roman"/>
                      </a:endParaRPr>
                    </a:p>
                    <a:p>
                      <a:pPr indent="0" lvl="0" marL="0" rtl="0" algn="ctr">
                        <a:spcBef>
                          <a:spcPts val="0"/>
                        </a:spcBef>
                        <a:spcAft>
                          <a:spcPts val="0"/>
                        </a:spcAft>
                        <a:buNone/>
                      </a:pPr>
                      <a:r>
                        <a:rPr lang="en-GB" sz="1100">
                          <a:latin typeface="Times New Roman"/>
                          <a:ea typeface="Times New Roman"/>
                          <a:cs typeface="Times New Roman"/>
                          <a:sym typeface="Times New Roman"/>
                        </a:rPr>
                        <a:t>4 Ah</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4.2 V</a:t>
                      </a:r>
                      <a:endParaRPr sz="1100">
                        <a:latin typeface="Times New Roman"/>
                        <a:ea typeface="Times New Roman"/>
                        <a:cs typeface="Times New Roman"/>
                        <a:sym typeface="Times New Roman"/>
                      </a:endParaRPr>
                    </a:p>
                    <a:p>
                      <a:pPr indent="0" lvl="0" marL="0" rtl="0" algn="ctr">
                        <a:spcBef>
                          <a:spcPts val="0"/>
                        </a:spcBef>
                        <a:spcAft>
                          <a:spcPts val="0"/>
                        </a:spcAft>
                        <a:buNone/>
                      </a:pPr>
                      <a:r>
                        <a:rPr lang="en-GB" sz="1100">
                          <a:latin typeface="Times New Roman"/>
                          <a:ea typeface="Times New Roman"/>
                          <a:cs typeface="Times New Roman"/>
                          <a:sym typeface="Times New Roman"/>
                        </a:rPr>
                        <a:t>5 Ah</a:t>
                      </a:r>
                      <a:endParaRPr sz="1100">
                        <a:latin typeface="Times New Roman"/>
                        <a:ea typeface="Times New Roman"/>
                        <a:cs typeface="Times New Roman"/>
                        <a:sym typeface="Times New Roman"/>
                      </a:endParaRPr>
                    </a:p>
                  </a:txBody>
                  <a:tcPr marT="63500" marB="63500" marR="63500" marL="63500" anchor="ct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Weight </a:t>
                      </a:r>
                      <a:endParaRPr b="1" sz="1100">
                        <a:latin typeface="Times New Roman"/>
                        <a:ea typeface="Times New Roman"/>
                        <a:cs typeface="Times New Roman"/>
                        <a:sym typeface="Times New Roman"/>
                      </a:endParaRPr>
                    </a:p>
                    <a:p>
                      <a:pPr indent="0" lvl="0" marL="0" rtl="0" algn="ctr">
                        <a:spcBef>
                          <a:spcPts val="0"/>
                        </a:spcBef>
                        <a:spcAft>
                          <a:spcPts val="0"/>
                        </a:spcAft>
                        <a:buNone/>
                      </a:pPr>
                      <a:r>
                        <a:rPr b="1" lang="en-GB" sz="1100">
                          <a:latin typeface="Times New Roman"/>
                          <a:ea typeface="Times New Roman"/>
                          <a:cs typeface="Times New Roman"/>
                          <a:sym typeface="Times New Roman"/>
                        </a:rPr>
                        <a:t>(g/per cell)</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46.6</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48</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49</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66.8</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69.25</a:t>
                      </a:r>
                      <a:endParaRPr sz="1100">
                        <a:latin typeface="Times New Roman"/>
                        <a:ea typeface="Times New Roman"/>
                        <a:cs typeface="Times New Roman"/>
                        <a:sym typeface="Times New Roman"/>
                      </a:endParaRPr>
                    </a:p>
                  </a:txBody>
                  <a:tcPr marT="63500" marB="63500" marR="63500" marL="63500" anchor="ct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Dimensions (mm)</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18.5 x 65.2</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18.3 x 64.9</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18.3 x 65.1</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21.1 x 70.4</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21.0 x 70.4</a:t>
                      </a:r>
                      <a:endParaRPr sz="1100">
                        <a:latin typeface="Times New Roman"/>
                        <a:ea typeface="Times New Roman"/>
                        <a:cs typeface="Times New Roman"/>
                        <a:sym typeface="Times New Roman"/>
                      </a:endParaRPr>
                    </a:p>
                  </a:txBody>
                  <a:tcPr marT="63500" marB="63500" marR="63500" marL="63500" anchor="ctr"/>
                </a:tc>
              </a:tr>
              <a:tr h="539225">
                <a:tc>
                  <a:txBody>
                    <a:bodyPr/>
                    <a:lstStyle/>
                    <a:p>
                      <a:pPr indent="0" lvl="0" marL="0" rtl="0" algn="ctr">
                        <a:spcBef>
                          <a:spcPts val="0"/>
                        </a:spcBef>
                        <a:spcAft>
                          <a:spcPts val="0"/>
                        </a:spcAft>
                        <a:buNone/>
                      </a:pPr>
                      <a:r>
                        <a:rPr b="1" lang="en-GB" sz="1100">
                          <a:latin typeface="Times New Roman"/>
                          <a:ea typeface="Times New Roman"/>
                          <a:cs typeface="Times New Roman"/>
                          <a:sym typeface="Times New Roman"/>
                        </a:rPr>
                        <a:t>Cost (per cell)</a:t>
                      </a:r>
                      <a:endParaRPr b="1" sz="11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$6.00</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$5.99</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$5.99</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$5.99</a:t>
                      </a:r>
                      <a:endParaRPr sz="11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100">
                          <a:latin typeface="Times New Roman"/>
                          <a:ea typeface="Times New Roman"/>
                          <a:cs typeface="Times New Roman"/>
                          <a:sym typeface="Times New Roman"/>
                        </a:rPr>
                        <a:t>$4.99</a:t>
                      </a:r>
                      <a:endParaRPr sz="1100">
                        <a:latin typeface="Times New Roman"/>
                        <a:ea typeface="Times New Roman"/>
                        <a:cs typeface="Times New Roman"/>
                        <a:sym typeface="Times New Roman"/>
                      </a:endParaRPr>
                    </a:p>
                  </a:txBody>
                  <a:tcPr marT="63500" marB="63500" marR="63500" marL="63500" anchor="ctr"/>
                </a:tc>
              </a:tr>
            </a:tbl>
          </a:graphicData>
        </a:graphic>
      </p:graphicFrame>
      <p:sp>
        <p:nvSpPr>
          <p:cNvPr id="215" name="Google Shape;21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16" name="Google Shape;216;p31"/>
          <p:cNvPicPr preferRelativeResize="0"/>
          <p:nvPr/>
        </p:nvPicPr>
        <p:blipFill>
          <a:blip r:embed="rId3">
            <a:alphaModFix/>
          </a:blip>
          <a:stretch>
            <a:fillRect/>
          </a:stretch>
        </p:blipFill>
        <p:spPr>
          <a:xfrm>
            <a:off x="-3" y="4423497"/>
            <a:ext cx="720000" cy="720000"/>
          </a:xfrm>
          <a:prstGeom prst="rect">
            <a:avLst/>
          </a:prstGeom>
          <a:noFill/>
          <a:ln>
            <a:noFill/>
          </a:ln>
        </p:spPr>
      </p:pic>
      <p:sp>
        <p:nvSpPr>
          <p:cNvPr id="217" name="Google Shape;217;p31"/>
          <p:cNvSpPr txBox="1"/>
          <p:nvPr/>
        </p:nvSpPr>
        <p:spPr>
          <a:xfrm>
            <a:off x="1040925" y="4299200"/>
            <a:ext cx="7416900" cy="72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Times New Roman"/>
                <a:ea typeface="Times New Roman"/>
                <a:cs typeface="Times New Roman"/>
                <a:sym typeface="Times New Roman"/>
              </a:rPr>
              <a:t>We chose five LG INR21700-M50 5Ah batteries for their high energy density and the low cost when compared to all of the options we evaluated. Their balance of performance and affordability made them the most efficient choice for our design.</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Voltage Regulator </a:t>
            </a:r>
            <a:r>
              <a:rPr b="1" lang="en-GB">
                <a:latin typeface="Times New Roman"/>
                <a:ea typeface="Times New Roman"/>
                <a:cs typeface="Times New Roman"/>
                <a:sym typeface="Times New Roman"/>
              </a:rPr>
              <a:t>Selection</a:t>
            </a:r>
            <a:endParaRPr b="1">
              <a:latin typeface="Times New Roman"/>
              <a:ea typeface="Times New Roman"/>
              <a:cs typeface="Times New Roman"/>
              <a:sym typeface="Times New Roman"/>
            </a:endParaRPr>
          </a:p>
        </p:txBody>
      </p:sp>
      <p:graphicFrame>
        <p:nvGraphicFramePr>
          <p:cNvPr id="223" name="Google Shape;223;p32"/>
          <p:cNvGraphicFramePr/>
          <p:nvPr/>
        </p:nvGraphicFramePr>
        <p:xfrm>
          <a:off x="1828800" y="1298763"/>
          <a:ext cx="3000000" cy="3000000"/>
        </p:xfrm>
        <a:graphic>
          <a:graphicData uri="http://schemas.openxmlformats.org/drawingml/2006/table">
            <a:tbl>
              <a:tblPr>
                <a:noFill/>
                <a:tableStyleId>{E42BAC45-C59E-43F8-A8E8-F3F4521ABA27}</a:tableStyleId>
              </a:tblPr>
              <a:tblGrid>
                <a:gridCol w="2057400"/>
                <a:gridCol w="1143000"/>
                <a:gridCol w="1143000"/>
                <a:gridCol w="1143000"/>
              </a:tblGrid>
              <a:tr h="1902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Criteria</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AP64501</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TPS566247DRLR</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LM2596</a:t>
                      </a:r>
                      <a:endParaRPr b="1" sz="1200">
                        <a:latin typeface="Times New Roman"/>
                        <a:ea typeface="Times New Roman"/>
                        <a:cs typeface="Times New Roman"/>
                        <a:sym typeface="Times New Roman"/>
                      </a:endParaRPr>
                    </a:p>
                  </a:txBody>
                  <a:tcPr marT="63500" marB="63500" marR="63500" marL="63500" anchor="ctr">
                    <a:solidFill>
                      <a:srgbClr val="999999"/>
                    </a:solidFill>
                  </a:tcP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Input Voltage (V)</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3.8 - 40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3 - 16</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4.5 - 40</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Output Voltage (V)</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0.8 - 39</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0.6 - 7</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3.3, 5, 12</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Maximum Output Current (A)</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63500" marB="63500" marR="63500" marL="63500" anchor="ctr"/>
                </a:tc>
              </a:tr>
              <a:tr h="12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Price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$3.22</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$0.57</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$8.63</a:t>
                      </a:r>
                      <a:endParaRPr sz="1200">
                        <a:latin typeface="Times New Roman"/>
                        <a:ea typeface="Times New Roman"/>
                        <a:cs typeface="Times New Roman"/>
                        <a:sym typeface="Times New Roman"/>
                      </a:endParaRPr>
                    </a:p>
                  </a:txBody>
                  <a:tcPr marT="63500" marB="63500" marR="63500" marL="63500" anchor="ctr"/>
                </a:tc>
              </a:tr>
            </a:tbl>
          </a:graphicData>
        </a:graphic>
      </p:graphicFrame>
      <p:sp>
        <p:nvSpPr>
          <p:cNvPr id="224" name="Google Shape;22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25" name="Google Shape;225;p32"/>
          <p:cNvPicPr preferRelativeResize="0"/>
          <p:nvPr/>
        </p:nvPicPr>
        <p:blipFill>
          <a:blip r:embed="rId3">
            <a:alphaModFix/>
          </a:blip>
          <a:stretch>
            <a:fillRect/>
          </a:stretch>
        </p:blipFill>
        <p:spPr>
          <a:xfrm>
            <a:off x="-3" y="4423497"/>
            <a:ext cx="720000" cy="720000"/>
          </a:xfrm>
          <a:prstGeom prst="rect">
            <a:avLst/>
          </a:prstGeom>
          <a:noFill/>
          <a:ln>
            <a:noFill/>
          </a:ln>
        </p:spPr>
      </p:pic>
      <p:sp>
        <p:nvSpPr>
          <p:cNvPr id="226" name="Google Shape;226;p32"/>
          <p:cNvSpPr txBox="1"/>
          <p:nvPr/>
        </p:nvSpPr>
        <p:spPr>
          <a:xfrm>
            <a:off x="1542150" y="3416875"/>
            <a:ext cx="6059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700">
                <a:latin typeface="Times New Roman"/>
                <a:ea typeface="Times New Roman"/>
                <a:cs typeface="Times New Roman"/>
                <a:sym typeface="Times New Roman"/>
              </a:rPr>
              <a:t>We chose to use the AP6501 because it offered a wide input and output voltage range, allowing us to use it for all three voltage rails</a:t>
            </a:r>
            <a:endParaRPr sz="17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Electrical Design - GPS (SAM-M8Q)</a:t>
            </a:r>
            <a:endParaRPr b="1">
              <a:latin typeface="Times New Roman"/>
              <a:ea typeface="Times New Roman"/>
              <a:cs typeface="Times New Roman"/>
              <a:sym typeface="Times New Roman"/>
            </a:endParaRPr>
          </a:p>
        </p:txBody>
      </p:sp>
      <p:sp>
        <p:nvSpPr>
          <p:cNvPr id="232" name="Google Shape;232;p33"/>
          <p:cNvSpPr txBox="1"/>
          <p:nvPr>
            <p:ph idx="1" type="body"/>
          </p:nvPr>
        </p:nvSpPr>
        <p:spPr>
          <a:xfrm>
            <a:off x="0" y="863575"/>
            <a:ext cx="45720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Communication with </a:t>
            </a:r>
            <a:r>
              <a:rPr lang="en-GB">
                <a:solidFill>
                  <a:schemeClr val="dk1"/>
                </a:solidFill>
                <a:latin typeface="Times New Roman"/>
                <a:ea typeface="Times New Roman"/>
                <a:cs typeface="Times New Roman"/>
                <a:sym typeface="Times New Roman"/>
              </a:rPr>
              <a:t>STM32:</a:t>
            </a:r>
            <a:r>
              <a:rPr lang="en-GB" sz="1400">
                <a:solidFill>
                  <a:schemeClr val="dk1"/>
                </a:solidFill>
                <a:latin typeface="Times New Roman"/>
                <a:ea typeface="Times New Roman"/>
                <a:cs typeface="Times New Roman"/>
                <a:sym typeface="Times New Roman"/>
              </a:rPr>
              <a:t>:</a:t>
            </a:r>
            <a:endParaRPr sz="14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UART:</a:t>
            </a:r>
            <a:endParaRPr>
              <a:solidFill>
                <a:schemeClr val="dk1"/>
              </a:solidFill>
              <a:latin typeface="Times New Roman"/>
              <a:ea typeface="Times New Roman"/>
              <a:cs typeface="Times New Roman"/>
              <a:sym typeface="Times New Roman"/>
            </a:endParaRPr>
          </a:p>
          <a:p>
            <a:pPr indent="-304800" lvl="2" marL="13716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RX: GPS Pin 14 → TX: STM Pin 22.</a:t>
            </a:r>
            <a:endParaRPr>
              <a:solidFill>
                <a:schemeClr val="dk1"/>
              </a:solidFill>
              <a:latin typeface="Times New Roman"/>
              <a:ea typeface="Times New Roman"/>
              <a:cs typeface="Times New Roman"/>
              <a:sym typeface="Times New Roman"/>
            </a:endParaRPr>
          </a:p>
          <a:p>
            <a:pPr indent="-304800" lvl="2" marL="13716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TX: GPS Pin 13 → RX: STM Pin 21.</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Reset Configuration:</a:t>
            </a:r>
            <a:r>
              <a:rPr lang="en-GB">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Reset pin pulled up to 3.3V (active low).</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Power Indicator:</a:t>
            </a:r>
            <a:endParaRPr sz="1400">
              <a:solidFill>
                <a:schemeClr val="dk1"/>
              </a:solidFill>
              <a:latin typeface="Times New Roman"/>
              <a:ea typeface="Times New Roman"/>
              <a:cs typeface="Times New Roman"/>
              <a:sym typeface="Times New Roman"/>
            </a:endParaRPr>
          </a:p>
          <a:p>
            <a:pPr indent="-304800" lvl="1" marL="9144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LED connected to 3.3V rail for visual confirmation of power and functionality.</a:t>
            </a:r>
            <a:endParaRPr sz="1400">
              <a:solidFill>
                <a:schemeClr val="dk1"/>
              </a:solidFill>
              <a:latin typeface="Times New Roman"/>
              <a:ea typeface="Times New Roman"/>
              <a:cs typeface="Times New Roman"/>
              <a:sym typeface="Times New Roman"/>
            </a:endParaRPr>
          </a:p>
        </p:txBody>
      </p:sp>
      <p:sp>
        <p:nvSpPr>
          <p:cNvPr id="233" name="Google Shape;23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34" name="Google Shape;234;p33"/>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235" name="Google Shape;235;p33"/>
          <p:cNvPicPr preferRelativeResize="0"/>
          <p:nvPr/>
        </p:nvPicPr>
        <p:blipFill>
          <a:blip r:embed="rId4">
            <a:alphaModFix/>
          </a:blip>
          <a:stretch>
            <a:fillRect/>
          </a:stretch>
        </p:blipFill>
        <p:spPr>
          <a:xfrm>
            <a:off x="4572000" y="1138225"/>
            <a:ext cx="4571999" cy="2867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idx="1" type="body"/>
          </p:nvPr>
        </p:nvSpPr>
        <p:spPr>
          <a:xfrm>
            <a:off x="0" y="755700"/>
            <a:ext cx="3954300" cy="4387800"/>
          </a:xfrm>
          <a:prstGeom prst="rect">
            <a:avLst/>
          </a:prstGeom>
        </p:spPr>
        <p:txBody>
          <a:bodyPr anchorCtr="0" anchor="ctr" bIns="91425" lIns="91425" spcFirstLastPara="1" rIns="91425" wrap="square" tIns="91425">
            <a:noAutofit/>
          </a:bodyPr>
          <a:lstStyle/>
          <a:p>
            <a:pPr indent="-304800" lvl="0" marL="4572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Communication with BMS:</a:t>
            </a:r>
            <a:endParaRPr>
              <a:solidFill>
                <a:schemeClr val="dk1"/>
              </a:solidFill>
              <a:latin typeface="Times New Roman"/>
              <a:ea typeface="Times New Roman"/>
              <a:cs typeface="Times New Roman"/>
              <a:sym typeface="Times New Roman"/>
            </a:endParaRPr>
          </a:p>
          <a:p>
            <a:pPr indent="-304800" lvl="1" marL="9144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I2C interface:</a:t>
            </a:r>
            <a:endParaRPr>
              <a:solidFill>
                <a:schemeClr val="dk1"/>
              </a:solidFill>
              <a:latin typeface="Times New Roman"/>
              <a:ea typeface="Times New Roman"/>
              <a:cs typeface="Times New Roman"/>
              <a:sym typeface="Times New Roman"/>
            </a:endParaRPr>
          </a:p>
          <a:p>
            <a:pPr indent="-304800" lvl="2" marL="13716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SCL: STM pin 42 </a:t>
            </a:r>
            <a:r>
              <a:rPr lang="en-GB">
                <a:solidFill>
                  <a:schemeClr val="dk1"/>
                </a:solidFill>
                <a:latin typeface="Times New Roman"/>
                <a:ea typeface="Times New Roman"/>
                <a:cs typeface="Times New Roman"/>
                <a:sym typeface="Times New Roman"/>
              </a:rPr>
              <a:t>→ </a:t>
            </a:r>
            <a:r>
              <a:rPr lang="en-GB">
                <a:solidFill>
                  <a:schemeClr val="dk1"/>
                </a:solidFill>
                <a:latin typeface="Times New Roman"/>
                <a:ea typeface="Times New Roman"/>
                <a:cs typeface="Times New Roman"/>
                <a:sym typeface="Times New Roman"/>
              </a:rPr>
              <a:t> BMS pin 5</a:t>
            </a:r>
            <a:endParaRPr>
              <a:solidFill>
                <a:schemeClr val="dk1"/>
              </a:solidFill>
              <a:latin typeface="Times New Roman"/>
              <a:ea typeface="Times New Roman"/>
              <a:cs typeface="Times New Roman"/>
              <a:sym typeface="Times New Roman"/>
            </a:endParaRPr>
          </a:p>
          <a:p>
            <a:pPr indent="-304800" lvl="2" marL="13716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SDA: STM pin 43 </a:t>
            </a:r>
            <a:r>
              <a:rPr lang="en-GB">
                <a:solidFill>
                  <a:schemeClr val="dk1"/>
                </a:solidFill>
                <a:latin typeface="Times New Roman"/>
                <a:ea typeface="Times New Roman"/>
                <a:cs typeface="Times New Roman"/>
                <a:sym typeface="Times New Roman"/>
              </a:rPr>
              <a:t>→ BMS pin 6</a:t>
            </a:r>
            <a:endParaRPr>
              <a:solidFill>
                <a:schemeClr val="dk1"/>
              </a:solidFill>
              <a:latin typeface="Times New Roman"/>
              <a:ea typeface="Times New Roman"/>
              <a:cs typeface="Times New Roman"/>
              <a:sym typeface="Times New Roman"/>
            </a:endParaRPr>
          </a:p>
          <a:p>
            <a:pPr indent="-304800" lvl="0" marL="4572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Communication with GPS:</a:t>
            </a:r>
            <a:endParaRPr>
              <a:solidFill>
                <a:schemeClr val="dk1"/>
              </a:solidFill>
              <a:latin typeface="Times New Roman"/>
              <a:ea typeface="Times New Roman"/>
              <a:cs typeface="Times New Roman"/>
              <a:sym typeface="Times New Roman"/>
            </a:endParaRPr>
          </a:p>
          <a:p>
            <a:pPr indent="-304800" lvl="1" marL="9144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UART  interface:</a:t>
            </a:r>
            <a:endParaRPr>
              <a:solidFill>
                <a:schemeClr val="dk1"/>
              </a:solidFill>
              <a:latin typeface="Times New Roman"/>
              <a:ea typeface="Times New Roman"/>
              <a:cs typeface="Times New Roman"/>
              <a:sym typeface="Times New Roman"/>
            </a:endParaRPr>
          </a:p>
          <a:p>
            <a:pPr indent="-304800" lvl="2" marL="13716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RX: GPS Pin 14 → TX: STM Pin 22.</a:t>
            </a:r>
            <a:endParaRPr>
              <a:solidFill>
                <a:schemeClr val="dk1"/>
              </a:solidFill>
              <a:latin typeface="Times New Roman"/>
              <a:ea typeface="Times New Roman"/>
              <a:cs typeface="Times New Roman"/>
              <a:sym typeface="Times New Roman"/>
            </a:endParaRPr>
          </a:p>
          <a:p>
            <a:pPr indent="-304800" lvl="2" marL="1371600" rtl="0" algn="l">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TX: GPS Pin 13 → RX: STM Pin 21.</a:t>
            </a:r>
            <a:endParaRPr>
              <a:solidFill>
                <a:schemeClr val="dk1"/>
              </a:solidFill>
              <a:latin typeface="Times New Roman"/>
              <a:ea typeface="Times New Roman"/>
              <a:cs typeface="Times New Roman"/>
              <a:sym typeface="Times New Roman"/>
            </a:endParaRPr>
          </a:p>
          <a:p>
            <a:pPr indent="-304800" lvl="0" marL="4572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Communication with Orin:</a:t>
            </a:r>
            <a:endParaRPr>
              <a:solidFill>
                <a:schemeClr val="dk1"/>
              </a:solidFill>
              <a:latin typeface="Times New Roman"/>
              <a:ea typeface="Times New Roman"/>
              <a:cs typeface="Times New Roman"/>
              <a:sym typeface="Times New Roman"/>
            </a:endParaRPr>
          </a:p>
          <a:p>
            <a:pPr indent="-304800" lvl="1" marL="9144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UART interface</a:t>
            </a:r>
            <a:endParaRPr>
              <a:solidFill>
                <a:schemeClr val="dk1"/>
              </a:solidFill>
              <a:latin typeface="Times New Roman"/>
              <a:ea typeface="Times New Roman"/>
              <a:cs typeface="Times New Roman"/>
              <a:sym typeface="Times New Roman"/>
            </a:endParaRPr>
          </a:p>
          <a:p>
            <a:pPr indent="-304800" lvl="2" marL="13716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RX: STM pin 31 → TX: Orin pin 8</a:t>
            </a:r>
            <a:endParaRPr>
              <a:solidFill>
                <a:schemeClr val="dk1"/>
              </a:solidFill>
              <a:latin typeface="Times New Roman"/>
              <a:ea typeface="Times New Roman"/>
              <a:cs typeface="Times New Roman"/>
              <a:sym typeface="Times New Roman"/>
            </a:endParaRPr>
          </a:p>
          <a:p>
            <a:pPr indent="-304800" lvl="2" marL="13716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TX: STM pin 30 → RX: Orin pin 10</a:t>
            </a:r>
            <a:endParaRPr>
              <a:solidFill>
                <a:schemeClr val="dk1"/>
              </a:solidFill>
              <a:latin typeface="Times New Roman"/>
              <a:ea typeface="Times New Roman"/>
              <a:cs typeface="Times New Roman"/>
              <a:sym typeface="Times New Roman"/>
            </a:endParaRPr>
          </a:p>
          <a:p>
            <a:pPr indent="-304800" lvl="0" marL="457200" rtl="0" algn="l">
              <a:lnSpc>
                <a:spcPct val="95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Diagnostic LEDs connected to pins 14 - 17</a:t>
            </a:r>
            <a:endParaRPr>
              <a:solidFill>
                <a:schemeClr val="dk1"/>
              </a:solidFill>
              <a:latin typeface="Times New Roman"/>
              <a:ea typeface="Times New Roman"/>
              <a:cs typeface="Times New Roman"/>
              <a:sym typeface="Times New Roman"/>
            </a:endParaRPr>
          </a:p>
        </p:txBody>
      </p:sp>
      <p:sp>
        <p:nvSpPr>
          <p:cNvPr id="241" name="Google Shape;241;p34"/>
          <p:cNvSpPr txBox="1"/>
          <p:nvPr>
            <p:ph type="title"/>
          </p:nvPr>
        </p:nvSpPr>
        <p:spPr>
          <a:xfrm>
            <a:off x="0" y="0"/>
            <a:ext cx="4678800" cy="836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Electrical Design - Microcontroller (STM32F103C8T6)</a:t>
            </a:r>
            <a:endParaRPr b="1">
              <a:latin typeface="Times New Roman"/>
              <a:ea typeface="Times New Roman"/>
              <a:cs typeface="Times New Roman"/>
              <a:sym typeface="Times New Roman"/>
            </a:endParaRPr>
          </a:p>
        </p:txBody>
      </p:sp>
      <p:sp>
        <p:nvSpPr>
          <p:cNvPr id="242" name="Google Shape;242;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43" name="Google Shape;243;p34"/>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244" name="Google Shape;244;p34"/>
          <p:cNvPicPr preferRelativeResize="0"/>
          <p:nvPr/>
        </p:nvPicPr>
        <p:blipFill>
          <a:blip r:embed="rId4">
            <a:alphaModFix/>
          </a:blip>
          <a:stretch>
            <a:fillRect/>
          </a:stretch>
        </p:blipFill>
        <p:spPr>
          <a:xfrm>
            <a:off x="4831200" y="152400"/>
            <a:ext cx="4160399" cy="433778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type="title"/>
          </p:nvPr>
        </p:nvSpPr>
        <p:spPr>
          <a:xfrm>
            <a:off x="-122850" y="0"/>
            <a:ext cx="9144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Electrical Design - Jetson AGX Orin Developer Kit</a:t>
            </a:r>
            <a:endParaRPr b="1">
              <a:latin typeface="Times New Roman"/>
              <a:ea typeface="Times New Roman"/>
              <a:cs typeface="Times New Roman"/>
              <a:sym typeface="Times New Roman"/>
            </a:endParaRPr>
          </a:p>
        </p:txBody>
      </p:sp>
      <p:sp>
        <p:nvSpPr>
          <p:cNvPr id="250" name="Google Shape;250;p35"/>
          <p:cNvSpPr txBox="1"/>
          <p:nvPr>
            <p:ph idx="1" type="body"/>
          </p:nvPr>
        </p:nvSpPr>
        <p:spPr>
          <a:xfrm>
            <a:off x="0" y="1126100"/>
            <a:ext cx="3119700" cy="4017300"/>
          </a:xfrm>
          <a:prstGeom prst="rect">
            <a:avLst/>
          </a:prstGeom>
        </p:spPr>
        <p:txBody>
          <a:bodyPr anchorCtr="0" anchor="ctr" bIns="91425" lIns="91425" spcFirstLastPara="1" rIns="91425" wrap="square" tIns="91425">
            <a:normAutofit/>
          </a:bodyPr>
          <a:lstStyle/>
          <a:p>
            <a:pPr indent="-304800" lvl="0" marL="457200" rtl="0" algn="just">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To meet significant PCB requirements, our other peripherals (BMS, GPS) communicate directly with the STM32.</a:t>
            </a:r>
            <a:endParaRPr>
              <a:solidFill>
                <a:schemeClr val="dk1"/>
              </a:solidFill>
              <a:latin typeface="Times New Roman"/>
              <a:ea typeface="Times New Roman"/>
              <a:cs typeface="Times New Roman"/>
              <a:sym typeface="Times New Roman"/>
            </a:endParaRPr>
          </a:p>
          <a:p>
            <a:pPr indent="-304800" lvl="0" marL="457200" rtl="0" algn="just">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Information is then relayed from the STM32 to the Orin through UART.</a:t>
            </a:r>
            <a:endParaRPr/>
          </a:p>
        </p:txBody>
      </p:sp>
      <p:sp>
        <p:nvSpPr>
          <p:cNvPr id="251" name="Google Shape;25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52" name="Google Shape;252;p35"/>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253" name="Google Shape;253;p35"/>
          <p:cNvPicPr preferRelativeResize="0"/>
          <p:nvPr/>
        </p:nvPicPr>
        <p:blipFill>
          <a:blip r:embed="rId4">
            <a:alphaModFix/>
          </a:blip>
          <a:stretch>
            <a:fillRect/>
          </a:stretch>
        </p:blipFill>
        <p:spPr>
          <a:xfrm>
            <a:off x="3606710" y="1494380"/>
            <a:ext cx="4981465" cy="2298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Electrical Design - Modem (RFD-900x)</a:t>
            </a:r>
            <a:endParaRPr b="1">
              <a:latin typeface="Times New Roman"/>
              <a:ea typeface="Times New Roman"/>
              <a:cs typeface="Times New Roman"/>
              <a:sym typeface="Times New Roman"/>
            </a:endParaRPr>
          </a:p>
        </p:txBody>
      </p:sp>
      <p:sp>
        <p:nvSpPr>
          <p:cNvPr id="259" name="Google Shape;259;p36"/>
          <p:cNvSpPr txBox="1"/>
          <p:nvPr>
            <p:ph idx="1" type="body"/>
          </p:nvPr>
        </p:nvSpPr>
        <p:spPr>
          <a:xfrm>
            <a:off x="0" y="572700"/>
            <a:ext cx="9190800" cy="4570800"/>
          </a:xfrm>
          <a:prstGeom prst="rect">
            <a:avLst/>
          </a:prstGeom>
        </p:spPr>
        <p:txBody>
          <a:bodyPr anchorCtr="0" anchor="t" bIns="91425" lIns="91425" spcFirstLastPara="1" rIns="91425" wrap="square" tIns="91425">
            <a:noAutofit/>
          </a:bodyPr>
          <a:lstStyle/>
          <a:p>
            <a:pPr indent="-317500" lvl="0" marL="457200" rtl="0" algn="just">
              <a:lnSpc>
                <a:spcPct val="100000"/>
              </a:lnSpc>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Pin 1 on the PCB header connects to pin 1 on the modem. Pin 2 on the header connects to pin 3 on the modem, etc.</a:t>
            </a:r>
            <a:endParaRPr>
              <a:solidFill>
                <a:schemeClr val="dk1"/>
              </a:solidFill>
              <a:latin typeface="Times New Roman"/>
              <a:ea typeface="Times New Roman"/>
              <a:cs typeface="Times New Roman"/>
              <a:sym typeface="Times New Roman"/>
            </a:endParaRPr>
          </a:p>
          <a:p>
            <a:pPr indent="-317500" lvl="0" marL="457200" rtl="0" algn="just">
              <a:lnSpc>
                <a:spcPct val="100000"/>
              </a:lnSpc>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Communication with Jetson AGX Orin:</a:t>
            </a:r>
            <a:endParaRPr sz="1400">
              <a:solidFill>
                <a:schemeClr val="dk1"/>
              </a:solidFill>
              <a:latin typeface="Times New Roman"/>
              <a:ea typeface="Times New Roman"/>
              <a:cs typeface="Times New Roman"/>
              <a:sym typeface="Times New Roman"/>
            </a:endParaRPr>
          </a:p>
          <a:p>
            <a:pPr indent="-304800" lvl="1" marL="914400" rtl="0" algn="just">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UART interface:</a:t>
            </a:r>
            <a:endParaRPr>
              <a:solidFill>
                <a:schemeClr val="dk1"/>
              </a:solidFill>
              <a:latin typeface="Times New Roman"/>
              <a:ea typeface="Times New Roman"/>
              <a:cs typeface="Times New Roman"/>
              <a:sym typeface="Times New Roman"/>
            </a:endParaRPr>
          </a:p>
          <a:p>
            <a:pPr indent="-304800" lvl="2" marL="1371600" rtl="0" algn="just">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Tx: Modem pin 9 → Rx: Orin pin 13</a:t>
            </a:r>
            <a:endParaRPr>
              <a:solidFill>
                <a:schemeClr val="dk1"/>
              </a:solidFill>
              <a:latin typeface="Times New Roman"/>
              <a:ea typeface="Times New Roman"/>
              <a:cs typeface="Times New Roman"/>
              <a:sym typeface="Times New Roman"/>
            </a:endParaRPr>
          </a:p>
          <a:p>
            <a:pPr indent="-304800" lvl="2" marL="1371600" rtl="0" algn="just">
              <a:lnSpc>
                <a:spcPct val="100000"/>
              </a:lnSpc>
              <a:spcBef>
                <a:spcPts val="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Rx: Modem pin 7 → Tx: STM pin 12</a:t>
            </a:r>
            <a:endParaRPr>
              <a:solidFill>
                <a:schemeClr val="dk1"/>
              </a:solidFill>
              <a:latin typeface="Times New Roman"/>
              <a:ea typeface="Times New Roman"/>
              <a:cs typeface="Times New Roman"/>
              <a:sym typeface="Times New Roman"/>
            </a:endParaRPr>
          </a:p>
        </p:txBody>
      </p:sp>
      <p:sp>
        <p:nvSpPr>
          <p:cNvPr id="260" name="Google Shape;26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61" name="Google Shape;261;p36"/>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262" name="Google Shape;262;p36"/>
          <p:cNvPicPr preferRelativeResize="0"/>
          <p:nvPr/>
        </p:nvPicPr>
        <p:blipFill>
          <a:blip r:embed="rId4">
            <a:alphaModFix/>
          </a:blip>
          <a:stretch>
            <a:fillRect/>
          </a:stretch>
        </p:blipFill>
        <p:spPr>
          <a:xfrm>
            <a:off x="1306478" y="2288900"/>
            <a:ext cx="6577849" cy="2374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7"/>
          <p:cNvPicPr preferRelativeResize="0"/>
          <p:nvPr/>
        </p:nvPicPr>
        <p:blipFill>
          <a:blip r:embed="rId3">
            <a:alphaModFix/>
          </a:blip>
          <a:stretch>
            <a:fillRect/>
          </a:stretch>
        </p:blipFill>
        <p:spPr>
          <a:xfrm>
            <a:off x="1711225" y="302450"/>
            <a:ext cx="5721549" cy="4902426"/>
          </a:xfrm>
          <a:prstGeom prst="rect">
            <a:avLst/>
          </a:prstGeom>
          <a:noFill/>
          <a:ln>
            <a:noFill/>
          </a:ln>
        </p:spPr>
      </p:pic>
      <p:sp>
        <p:nvSpPr>
          <p:cNvPr id="268" name="Google Shape;268;p37"/>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Electrical Design - BMS (L9961)</a:t>
            </a:r>
            <a:endParaRPr b="1">
              <a:latin typeface="Times New Roman"/>
              <a:ea typeface="Times New Roman"/>
              <a:cs typeface="Times New Roman"/>
              <a:sym typeface="Times New Roman"/>
            </a:endParaRPr>
          </a:p>
        </p:txBody>
      </p:sp>
      <p:sp>
        <p:nvSpPr>
          <p:cNvPr id="269" name="Google Shape;26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70" name="Google Shape;270;p37"/>
          <p:cNvPicPr preferRelativeResize="0"/>
          <p:nvPr/>
        </p:nvPicPr>
        <p:blipFill>
          <a:blip r:embed="rId4">
            <a:alphaModFix/>
          </a:blip>
          <a:stretch>
            <a:fillRect/>
          </a:stretch>
        </p:blipFill>
        <p:spPr>
          <a:xfrm>
            <a:off x="-3" y="4423497"/>
            <a:ext cx="720000" cy="720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8"/>
          <p:cNvPicPr preferRelativeResize="0"/>
          <p:nvPr/>
        </p:nvPicPr>
        <p:blipFill>
          <a:blip r:embed="rId3">
            <a:alphaModFix/>
          </a:blip>
          <a:stretch>
            <a:fillRect/>
          </a:stretch>
        </p:blipFill>
        <p:spPr>
          <a:xfrm>
            <a:off x="0" y="1039753"/>
            <a:ext cx="9144001" cy="2246194"/>
          </a:xfrm>
          <a:prstGeom prst="rect">
            <a:avLst/>
          </a:prstGeom>
          <a:noFill/>
          <a:ln>
            <a:noFill/>
          </a:ln>
        </p:spPr>
      </p:pic>
      <p:sp>
        <p:nvSpPr>
          <p:cNvPr id="276" name="Google Shape;276;p38"/>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Times New Roman"/>
                <a:ea typeface="Times New Roman"/>
                <a:cs typeface="Times New Roman"/>
                <a:sym typeface="Times New Roman"/>
              </a:rPr>
              <a:t>Electrical Design - 3.3V, 5V, &amp; 12V Voltage Regulator (AP6501)</a:t>
            </a:r>
            <a:endParaRPr b="1">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77" name="Google Shape;277;p38"/>
          <p:cNvSpPr txBox="1"/>
          <p:nvPr>
            <p:ph idx="1" type="body"/>
          </p:nvPr>
        </p:nvSpPr>
        <p:spPr>
          <a:xfrm>
            <a:off x="311700" y="3285950"/>
            <a:ext cx="8520600" cy="17709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Char char="●"/>
            </a:pPr>
            <a:r>
              <a:rPr lang="en-GB" sz="2200">
                <a:solidFill>
                  <a:schemeClr val="dk1"/>
                </a:solidFill>
                <a:latin typeface="Times New Roman"/>
                <a:ea typeface="Times New Roman"/>
                <a:cs typeface="Times New Roman"/>
                <a:sym typeface="Times New Roman"/>
              </a:rPr>
              <a:t>Values from the datasheet were used for L and R</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GB" sz="2200">
                <a:solidFill>
                  <a:schemeClr val="dk1"/>
                </a:solidFill>
                <a:latin typeface="Times New Roman"/>
                <a:ea typeface="Times New Roman"/>
                <a:cs typeface="Times New Roman"/>
                <a:sym typeface="Times New Roman"/>
              </a:rPr>
              <a:t>A LED indicator is connected to the output of the voltage regulator, providing a visual confirmation of proper functionality</a:t>
            </a:r>
            <a:endParaRPr sz="2200">
              <a:solidFill>
                <a:schemeClr val="dk1"/>
              </a:solidFill>
              <a:latin typeface="Times New Roman"/>
              <a:ea typeface="Times New Roman"/>
              <a:cs typeface="Times New Roman"/>
              <a:sym typeface="Times New Roman"/>
            </a:endParaRPr>
          </a:p>
        </p:txBody>
      </p:sp>
      <p:sp>
        <p:nvSpPr>
          <p:cNvPr id="278" name="Google Shape;27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79" name="Google Shape;279;p38"/>
          <p:cNvPicPr preferRelativeResize="0"/>
          <p:nvPr/>
        </p:nvPicPr>
        <p:blipFill>
          <a:blip r:embed="rId4">
            <a:alphaModFix/>
          </a:blip>
          <a:stretch>
            <a:fillRect/>
          </a:stretch>
        </p:blipFill>
        <p:spPr>
          <a:xfrm>
            <a:off x="-3" y="4423497"/>
            <a:ext cx="720000" cy="720000"/>
          </a:xfrm>
          <a:prstGeom prst="rect">
            <a:avLst/>
          </a:prstGeom>
          <a:noFill/>
          <a:ln>
            <a:noFill/>
          </a:ln>
        </p:spPr>
      </p:pic>
      <p:graphicFrame>
        <p:nvGraphicFramePr>
          <p:cNvPr id="280" name="Google Shape;280;p38"/>
          <p:cNvGraphicFramePr/>
          <p:nvPr/>
        </p:nvGraphicFramePr>
        <p:xfrm>
          <a:off x="5437200" y="644538"/>
          <a:ext cx="3000000" cy="3000000"/>
        </p:xfrm>
        <a:graphic>
          <a:graphicData uri="http://schemas.openxmlformats.org/drawingml/2006/table">
            <a:tbl>
              <a:tblPr>
                <a:noFill/>
                <a:tableStyleId>{9BEABABF-511B-4D29-9E36-947EC27D0BD4}</a:tableStyleId>
              </a:tblPr>
              <a:tblGrid>
                <a:gridCol w="794500"/>
                <a:gridCol w="794500"/>
                <a:gridCol w="794500"/>
                <a:gridCol w="794500"/>
              </a:tblGrid>
              <a:tr h="100000">
                <a:tc>
                  <a:txBody>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3.3V</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5V</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12V</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L</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3.3 µH</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3.6 µH</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10 </a:t>
                      </a:r>
                      <a:r>
                        <a:rPr lang="en-GB">
                          <a:solidFill>
                            <a:schemeClr val="dk1"/>
                          </a:solidFill>
                          <a:latin typeface="Times New Roman"/>
                          <a:ea typeface="Times New Roman"/>
                          <a:cs typeface="Times New Roman"/>
                          <a:sym typeface="Times New Roman"/>
                        </a:rPr>
                        <a:t>µH</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R</a:t>
                      </a:r>
                      <a:endParaRPr b="1" baseline="-250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69.8 kΩ</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115 k</a:t>
                      </a:r>
                      <a:r>
                        <a:rPr lang="en-GB">
                          <a:solidFill>
                            <a:schemeClr val="dk1"/>
                          </a:solidFill>
                          <a:latin typeface="Times New Roman"/>
                          <a:ea typeface="Times New Roman"/>
                          <a:cs typeface="Times New Roman"/>
                          <a:sym typeface="Times New Roman"/>
                        </a:rPr>
                        <a:t>Ω</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309 k</a:t>
                      </a:r>
                      <a:r>
                        <a:rPr lang="en-GB">
                          <a:solidFill>
                            <a:schemeClr val="dk1"/>
                          </a:solidFill>
                          <a:latin typeface="Times New Roman"/>
                          <a:ea typeface="Times New Roman"/>
                          <a:cs typeface="Times New Roman"/>
                          <a:sym typeface="Times New Roman"/>
                        </a:rPr>
                        <a:t>Ω</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81" name="Google Shape;281;p38"/>
          <p:cNvSpPr txBox="1"/>
          <p:nvPr/>
        </p:nvSpPr>
        <p:spPr>
          <a:xfrm>
            <a:off x="4782125" y="1208525"/>
            <a:ext cx="452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a:solidFill>
                  <a:srgbClr val="FF0000"/>
                </a:solidFill>
                <a:latin typeface="Times New Roman"/>
                <a:ea typeface="Times New Roman"/>
                <a:cs typeface="Times New Roman"/>
                <a:sym typeface="Times New Roman"/>
              </a:rPr>
              <a:t>L</a:t>
            </a:r>
            <a:endParaRPr b="1" sz="1800">
              <a:solidFill>
                <a:srgbClr val="FF0000"/>
              </a:solidFill>
            </a:endParaRPr>
          </a:p>
        </p:txBody>
      </p:sp>
      <p:sp>
        <p:nvSpPr>
          <p:cNvPr id="282" name="Google Shape;282;p38"/>
          <p:cNvSpPr txBox="1"/>
          <p:nvPr/>
        </p:nvSpPr>
        <p:spPr>
          <a:xfrm>
            <a:off x="4923100" y="1833150"/>
            <a:ext cx="452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a:solidFill>
                  <a:srgbClr val="FF0000"/>
                </a:solidFill>
                <a:latin typeface="Times New Roman"/>
                <a:ea typeface="Times New Roman"/>
                <a:cs typeface="Times New Roman"/>
                <a:sym typeface="Times New Roman"/>
              </a:rPr>
              <a:t>R</a:t>
            </a:r>
            <a:endParaRPr b="1" sz="180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0" y="0"/>
            <a:ext cx="32283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PCB</a:t>
            </a:r>
            <a:endParaRPr b="1">
              <a:latin typeface="Times New Roman"/>
              <a:ea typeface="Times New Roman"/>
              <a:cs typeface="Times New Roman"/>
              <a:sym typeface="Times New Roman"/>
            </a:endParaRPr>
          </a:p>
        </p:txBody>
      </p:sp>
      <p:sp>
        <p:nvSpPr>
          <p:cNvPr id="288" name="Google Shape;288;p39"/>
          <p:cNvSpPr txBox="1"/>
          <p:nvPr>
            <p:ph idx="1" type="body"/>
          </p:nvPr>
        </p:nvSpPr>
        <p:spPr>
          <a:xfrm>
            <a:off x="0" y="755700"/>
            <a:ext cx="3228300" cy="4387800"/>
          </a:xfrm>
          <a:prstGeom prst="rect">
            <a:avLst/>
          </a:prstGeom>
        </p:spPr>
        <p:txBody>
          <a:bodyPr anchorCtr="0" anchor="t" bIns="91425" lIns="91425" spcFirstLastPara="1" rIns="91425" wrap="square" tIns="91425">
            <a:normAutofit/>
          </a:bodyPr>
          <a:lstStyle/>
          <a:p>
            <a:pPr indent="-304800" lvl="0" marL="457200" rtl="0" algn="l">
              <a:lnSpc>
                <a:spcPct val="100000"/>
              </a:lnSpc>
              <a:spcBef>
                <a:spcPts val="120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2 layers are used</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1200"/>
              </a:spcBef>
              <a:spcAft>
                <a:spcPts val="0"/>
              </a:spcAft>
              <a:buClr>
                <a:schemeClr val="dk1"/>
              </a:buClr>
              <a:buSzPts val="1200"/>
              <a:buFont typeface="Times New Roman"/>
              <a:buChar char="●"/>
            </a:pPr>
            <a:r>
              <a:rPr lang="en-GB">
                <a:solidFill>
                  <a:schemeClr val="dk1"/>
                </a:solidFill>
                <a:latin typeface="Times New Roman"/>
                <a:ea typeface="Times New Roman"/>
                <a:cs typeface="Times New Roman"/>
                <a:sym typeface="Times New Roman"/>
              </a:rPr>
              <a:t>Due to course requirements, all peripherals have to interface with the STM32. The STM32 is then interfaced with the Jetson AGX Orin through UART</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1200"/>
              </a:spcBef>
              <a:spcAft>
                <a:spcPts val="0"/>
              </a:spcAft>
              <a:buClr>
                <a:schemeClr val="dk1"/>
              </a:buClr>
              <a:buSzPts val="1200"/>
              <a:buFont typeface="Times New Roman"/>
              <a:buAutoNum type="arabicPeriod"/>
            </a:pPr>
            <a:r>
              <a:rPr lang="en-GB">
                <a:solidFill>
                  <a:schemeClr val="dk1"/>
                </a:solidFill>
                <a:latin typeface="Times New Roman"/>
                <a:ea typeface="Times New Roman"/>
                <a:cs typeface="Times New Roman"/>
                <a:sym typeface="Times New Roman"/>
              </a:rPr>
              <a:t>BMS (L9961)</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AutoNum type="arabicPeriod"/>
            </a:pPr>
            <a:r>
              <a:rPr lang="en-GB">
                <a:solidFill>
                  <a:schemeClr val="dk1"/>
                </a:solidFill>
                <a:latin typeface="Times New Roman"/>
                <a:ea typeface="Times New Roman"/>
                <a:cs typeface="Times New Roman"/>
                <a:sym typeface="Times New Roman"/>
              </a:rPr>
              <a:t>MCU (STM32F103C8T6)</a:t>
            </a:r>
            <a:endParaRPr>
              <a:solidFill>
                <a:schemeClr val="dk1"/>
              </a:solidFill>
              <a:latin typeface="Times New Roman"/>
              <a:ea typeface="Times New Roman"/>
              <a:cs typeface="Times New Roman"/>
              <a:sym typeface="Times New Roman"/>
            </a:endParaRPr>
          </a:p>
          <a:p>
            <a:pPr indent="-304800" lvl="0" marL="457200" rtl="0" algn="l">
              <a:lnSpc>
                <a:spcPct val="100000"/>
              </a:lnSpc>
              <a:spcBef>
                <a:spcPts val="0"/>
              </a:spcBef>
              <a:spcAft>
                <a:spcPts val="0"/>
              </a:spcAft>
              <a:buClr>
                <a:schemeClr val="dk1"/>
              </a:buClr>
              <a:buSzPts val="1200"/>
              <a:buFont typeface="Times New Roman"/>
              <a:buAutoNum type="arabicPeriod"/>
            </a:pPr>
            <a:r>
              <a:rPr lang="en-GB">
                <a:solidFill>
                  <a:schemeClr val="dk1"/>
                </a:solidFill>
                <a:latin typeface="Times New Roman"/>
                <a:ea typeface="Times New Roman"/>
                <a:cs typeface="Times New Roman"/>
                <a:sym typeface="Times New Roman"/>
              </a:rPr>
              <a:t>GPS (SAM-M8Q)</a:t>
            </a:r>
            <a:endParaRPr>
              <a:solidFill>
                <a:schemeClr val="dk1"/>
              </a:solidFill>
              <a:latin typeface="Times New Roman"/>
              <a:ea typeface="Times New Roman"/>
              <a:cs typeface="Times New Roman"/>
              <a:sym typeface="Times New Roman"/>
            </a:endParaRPr>
          </a:p>
        </p:txBody>
      </p:sp>
      <p:sp>
        <p:nvSpPr>
          <p:cNvPr id="289" name="Google Shape;28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290" name="Google Shape;290;p39"/>
          <p:cNvPicPr preferRelativeResize="0"/>
          <p:nvPr/>
        </p:nvPicPr>
        <p:blipFill>
          <a:blip r:embed="rId3">
            <a:alphaModFix/>
          </a:blip>
          <a:stretch>
            <a:fillRect/>
          </a:stretch>
        </p:blipFill>
        <p:spPr>
          <a:xfrm>
            <a:off x="-3" y="4423497"/>
            <a:ext cx="720000" cy="720000"/>
          </a:xfrm>
          <a:prstGeom prst="rect">
            <a:avLst/>
          </a:prstGeom>
          <a:noFill/>
          <a:ln>
            <a:noFill/>
          </a:ln>
        </p:spPr>
      </p:pic>
      <p:pic>
        <p:nvPicPr>
          <p:cNvPr id="291" name="Google Shape;291;p39"/>
          <p:cNvPicPr preferRelativeResize="0"/>
          <p:nvPr/>
        </p:nvPicPr>
        <p:blipFill>
          <a:blip r:embed="rId4">
            <a:alphaModFix/>
          </a:blip>
          <a:stretch>
            <a:fillRect/>
          </a:stretch>
        </p:blipFill>
        <p:spPr>
          <a:xfrm>
            <a:off x="3380700" y="152400"/>
            <a:ext cx="5473362" cy="4358418"/>
          </a:xfrm>
          <a:prstGeom prst="rect">
            <a:avLst/>
          </a:prstGeom>
          <a:noFill/>
          <a:ln>
            <a:noFill/>
          </a:ln>
        </p:spPr>
      </p:pic>
      <p:sp>
        <p:nvSpPr>
          <p:cNvPr id="292" name="Google Shape;292;p39"/>
          <p:cNvSpPr txBox="1"/>
          <p:nvPr/>
        </p:nvSpPr>
        <p:spPr>
          <a:xfrm>
            <a:off x="6781150" y="939400"/>
            <a:ext cx="452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2100">
                <a:solidFill>
                  <a:srgbClr val="FF0000"/>
                </a:solidFill>
                <a:latin typeface="Times New Roman"/>
                <a:ea typeface="Times New Roman"/>
                <a:cs typeface="Times New Roman"/>
                <a:sym typeface="Times New Roman"/>
              </a:rPr>
              <a:t>1</a:t>
            </a:r>
            <a:endParaRPr b="1" sz="2500">
              <a:solidFill>
                <a:srgbClr val="FF0000"/>
              </a:solidFill>
            </a:endParaRPr>
          </a:p>
        </p:txBody>
      </p:sp>
      <p:sp>
        <p:nvSpPr>
          <p:cNvPr id="293" name="Google Shape;293;p39"/>
          <p:cNvSpPr txBox="1"/>
          <p:nvPr/>
        </p:nvSpPr>
        <p:spPr>
          <a:xfrm>
            <a:off x="7419800" y="1610475"/>
            <a:ext cx="452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2100">
                <a:solidFill>
                  <a:srgbClr val="FF0000"/>
                </a:solidFill>
                <a:latin typeface="Times New Roman"/>
                <a:ea typeface="Times New Roman"/>
                <a:cs typeface="Times New Roman"/>
                <a:sym typeface="Times New Roman"/>
              </a:rPr>
              <a:t>2</a:t>
            </a:r>
            <a:endParaRPr b="1" sz="2500">
              <a:solidFill>
                <a:srgbClr val="FF0000"/>
              </a:solidFill>
            </a:endParaRPr>
          </a:p>
        </p:txBody>
      </p:sp>
      <p:sp>
        <p:nvSpPr>
          <p:cNvPr id="294" name="Google Shape;294;p39"/>
          <p:cNvSpPr txBox="1"/>
          <p:nvPr/>
        </p:nvSpPr>
        <p:spPr>
          <a:xfrm>
            <a:off x="7658650" y="3836975"/>
            <a:ext cx="452700" cy="45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GB" sz="2100">
                <a:solidFill>
                  <a:srgbClr val="FF0000"/>
                </a:solidFill>
                <a:latin typeface="Times New Roman"/>
                <a:ea typeface="Times New Roman"/>
                <a:cs typeface="Times New Roman"/>
                <a:sym typeface="Times New Roman"/>
              </a:rPr>
              <a:t>3</a:t>
            </a:r>
            <a:endParaRPr b="1" sz="250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0" y="0"/>
            <a:ext cx="9144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PCB Cont.</a:t>
            </a:r>
            <a:endParaRPr b="1">
              <a:latin typeface="Times New Roman"/>
              <a:ea typeface="Times New Roman"/>
              <a:cs typeface="Times New Roman"/>
              <a:sym typeface="Times New Roman"/>
            </a:endParaRPr>
          </a:p>
        </p:txBody>
      </p:sp>
      <p:sp>
        <p:nvSpPr>
          <p:cNvPr id="300" name="Google Shape;300;p40"/>
          <p:cNvSpPr txBox="1"/>
          <p:nvPr>
            <p:ph idx="1" type="body"/>
          </p:nvPr>
        </p:nvSpPr>
        <p:spPr>
          <a:xfrm>
            <a:off x="187475" y="2741425"/>
            <a:ext cx="8833800" cy="2402100"/>
          </a:xfrm>
          <a:prstGeom prst="rect">
            <a:avLst/>
          </a:prstGeom>
        </p:spPr>
        <p:txBody>
          <a:bodyPr anchorCtr="0" anchor="t" bIns="91425" lIns="91425" spcFirstLastPara="1" rIns="91425" wrap="square" tIns="91425">
            <a:normAutofit/>
          </a:bodyPr>
          <a:lstStyle/>
          <a:p>
            <a:pPr indent="-346075" lvl="0" marL="457200" rtl="0" algn="l">
              <a:lnSpc>
                <a:spcPct val="100000"/>
              </a:lnSpc>
              <a:spcBef>
                <a:spcPts val="1200"/>
              </a:spcBef>
              <a:spcAft>
                <a:spcPts val="0"/>
              </a:spcAft>
              <a:buClr>
                <a:schemeClr val="dk1"/>
              </a:buClr>
              <a:buSzPts val="1850"/>
              <a:buFont typeface="Times New Roman"/>
              <a:buChar char="●"/>
            </a:pPr>
            <a:r>
              <a:rPr lang="en-GB" sz="1850">
                <a:solidFill>
                  <a:schemeClr val="dk1"/>
                </a:solidFill>
                <a:latin typeface="Times New Roman"/>
                <a:ea typeface="Times New Roman"/>
                <a:cs typeface="Times New Roman"/>
                <a:sym typeface="Times New Roman"/>
              </a:rPr>
              <a:t>3.3V and the 5V voltage regulators will connect directly to and from the main board</a:t>
            </a:r>
            <a:endParaRPr sz="1850">
              <a:solidFill>
                <a:schemeClr val="dk1"/>
              </a:solidFill>
              <a:latin typeface="Times New Roman"/>
              <a:ea typeface="Times New Roman"/>
              <a:cs typeface="Times New Roman"/>
              <a:sym typeface="Times New Roman"/>
            </a:endParaRPr>
          </a:p>
          <a:p>
            <a:pPr indent="-346075" lvl="0" marL="457200" rtl="0" algn="l">
              <a:lnSpc>
                <a:spcPct val="100000"/>
              </a:lnSpc>
              <a:spcBef>
                <a:spcPts val="1200"/>
              </a:spcBef>
              <a:spcAft>
                <a:spcPts val="0"/>
              </a:spcAft>
              <a:buClr>
                <a:schemeClr val="dk1"/>
              </a:buClr>
              <a:buSzPts val="1850"/>
              <a:buFont typeface="Times New Roman"/>
              <a:buChar char="●"/>
            </a:pPr>
            <a:r>
              <a:rPr lang="en-GB" sz="1850">
                <a:solidFill>
                  <a:schemeClr val="dk1"/>
                </a:solidFill>
                <a:latin typeface="Times New Roman"/>
                <a:ea typeface="Times New Roman"/>
                <a:cs typeface="Times New Roman"/>
                <a:sym typeface="Times New Roman"/>
              </a:rPr>
              <a:t>The 12V voltage regulator is connected linearly between the main board and the Jetson AGX Orin</a:t>
            </a:r>
            <a:endParaRPr sz="1850">
              <a:solidFill>
                <a:schemeClr val="dk1"/>
              </a:solidFill>
              <a:latin typeface="Times New Roman"/>
              <a:ea typeface="Times New Roman"/>
              <a:cs typeface="Times New Roman"/>
              <a:sym typeface="Times New Roman"/>
            </a:endParaRPr>
          </a:p>
          <a:p>
            <a:pPr indent="-346075" lvl="0" marL="457200" rtl="0" algn="l">
              <a:lnSpc>
                <a:spcPct val="100000"/>
              </a:lnSpc>
              <a:spcBef>
                <a:spcPts val="1200"/>
              </a:spcBef>
              <a:spcAft>
                <a:spcPts val="1200"/>
              </a:spcAft>
              <a:buClr>
                <a:schemeClr val="dk1"/>
              </a:buClr>
              <a:buSzPts val="1850"/>
              <a:buFont typeface="Times New Roman"/>
              <a:buChar char="●"/>
            </a:pPr>
            <a:r>
              <a:rPr lang="en-GB" sz="1850">
                <a:solidFill>
                  <a:schemeClr val="dk1"/>
                </a:solidFill>
                <a:latin typeface="Times New Roman"/>
                <a:ea typeface="Times New Roman"/>
                <a:cs typeface="Times New Roman"/>
                <a:sym typeface="Times New Roman"/>
              </a:rPr>
              <a:t>The recommended layout for the </a:t>
            </a:r>
            <a:r>
              <a:rPr lang="en-GB" sz="1850">
                <a:solidFill>
                  <a:schemeClr val="dk1"/>
                </a:solidFill>
                <a:latin typeface="Times New Roman"/>
                <a:ea typeface="Times New Roman"/>
                <a:cs typeface="Times New Roman"/>
                <a:sym typeface="Times New Roman"/>
              </a:rPr>
              <a:t>AP6501 from its datasheet is used</a:t>
            </a:r>
            <a:endParaRPr sz="1850">
              <a:solidFill>
                <a:schemeClr val="dk1"/>
              </a:solidFill>
              <a:latin typeface="Times New Roman"/>
              <a:ea typeface="Times New Roman"/>
              <a:cs typeface="Times New Roman"/>
              <a:sym typeface="Times New Roman"/>
            </a:endParaRPr>
          </a:p>
        </p:txBody>
      </p:sp>
      <p:sp>
        <p:nvSpPr>
          <p:cNvPr id="301" name="Google Shape;30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02" name="Google Shape;302;p40"/>
          <p:cNvPicPr preferRelativeResize="0"/>
          <p:nvPr/>
        </p:nvPicPr>
        <p:blipFill>
          <a:blip r:embed="rId3">
            <a:alphaModFix/>
          </a:blip>
          <a:stretch>
            <a:fillRect/>
          </a:stretch>
        </p:blipFill>
        <p:spPr>
          <a:xfrm>
            <a:off x="-3" y="4423497"/>
            <a:ext cx="720000" cy="720000"/>
          </a:xfrm>
          <a:prstGeom prst="rect">
            <a:avLst/>
          </a:prstGeom>
          <a:noFill/>
          <a:ln>
            <a:noFill/>
          </a:ln>
        </p:spPr>
      </p:pic>
      <p:pic>
        <p:nvPicPr>
          <p:cNvPr id="303" name="Google Shape;303;p40"/>
          <p:cNvPicPr preferRelativeResize="0"/>
          <p:nvPr/>
        </p:nvPicPr>
        <p:blipFill>
          <a:blip r:embed="rId4">
            <a:alphaModFix/>
          </a:blip>
          <a:stretch>
            <a:fillRect/>
          </a:stretch>
        </p:blipFill>
        <p:spPr>
          <a:xfrm>
            <a:off x="366463" y="755707"/>
            <a:ext cx="8411074" cy="198571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Software Design</a:t>
            </a:r>
            <a:endParaRPr b="1">
              <a:latin typeface="Times New Roman"/>
              <a:ea typeface="Times New Roman"/>
              <a:cs typeface="Times New Roman"/>
              <a:sym typeface="Times New Roman"/>
            </a:endParaRPr>
          </a:p>
        </p:txBody>
      </p:sp>
      <p:sp>
        <p:nvSpPr>
          <p:cNvPr id="309" name="Google Shape;309;p41"/>
          <p:cNvSpPr txBox="1"/>
          <p:nvPr>
            <p:ph idx="1" type="body"/>
          </p:nvPr>
        </p:nvSpPr>
        <p:spPr>
          <a:xfrm>
            <a:off x="0" y="572700"/>
            <a:ext cx="9144000" cy="4576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drones would communicate to the base station via MavLink where the radio modem would accept incoming data and be transmitted to the Jetson AGX Orin before processing the data information.</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MavLink data would be carefully decoded within the Jetson AGX Orin for correct information before displaying data (images/detection of humans) onto the display on the station.</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STM32 will also forward GPS information and battery of the system from the components connected through UART to the Jetson display.</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Communication failures are mitigated by relaying messages through other drones, ensuring uninterrupted operations.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drone package is equipped with visual and thermal cameras for human detection using YOLO and OpenCV.</a:t>
            </a:r>
            <a:endParaRPr>
              <a:solidFill>
                <a:schemeClr val="dk1"/>
              </a:solidFill>
              <a:latin typeface="Times New Roman"/>
              <a:ea typeface="Times New Roman"/>
              <a:cs typeface="Times New Roman"/>
              <a:sym typeface="Times New Roman"/>
            </a:endParaRPr>
          </a:p>
        </p:txBody>
      </p:sp>
      <p:sp>
        <p:nvSpPr>
          <p:cNvPr id="310" name="Google Shape;31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11" name="Google Shape;311;p41"/>
          <p:cNvPicPr preferRelativeResize="0"/>
          <p:nvPr/>
        </p:nvPicPr>
        <p:blipFill>
          <a:blip r:embed="rId3">
            <a:alphaModFix/>
          </a:blip>
          <a:stretch>
            <a:fillRect/>
          </a:stretch>
        </p:blipFill>
        <p:spPr>
          <a:xfrm>
            <a:off x="0" y="4429125"/>
            <a:ext cx="720000" cy="720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2"/>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Radio Communication Protocol Selection</a:t>
            </a:r>
            <a:endParaRPr b="1">
              <a:latin typeface="Times New Roman"/>
              <a:ea typeface="Times New Roman"/>
              <a:cs typeface="Times New Roman"/>
              <a:sym typeface="Times New Roman"/>
            </a:endParaRPr>
          </a:p>
        </p:txBody>
      </p:sp>
      <p:sp>
        <p:nvSpPr>
          <p:cNvPr id="317" name="Google Shape;31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318" name="Google Shape;318;p42"/>
          <p:cNvGraphicFramePr/>
          <p:nvPr/>
        </p:nvGraphicFramePr>
        <p:xfrm>
          <a:off x="2034100" y="776425"/>
          <a:ext cx="3000000" cy="3000000"/>
        </p:xfrm>
        <a:graphic>
          <a:graphicData uri="http://schemas.openxmlformats.org/drawingml/2006/table">
            <a:tbl>
              <a:tblPr>
                <a:noFill/>
                <a:tableStyleId>{E42BAC45-C59E-43F8-A8E8-F3F4521ABA27}</a:tableStyleId>
              </a:tblPr>
              <a:tblGrid>
                <a:gridCol w="1077575"/>
                <a:gridCol w="1077575"/>
                <a:gridCol w="1077575"/>
                <a:gridCol w="1077575"/>
              </a:tblGrid>
              <a:tr h="4077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Criteria</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LoRaWAN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APRS</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MavLink</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r>
              <a:tr h="7782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Average </a:t>
                      </a:r>
                      <a:r>
                        <a:rPr b="1" lang="en-GB" sz="1200">
                          <a:latin typeface="Times New Roman"/>
                          <a:ea typeface="Times New Roman"/>
                          <a:cs typeface="Times New Roman"/>
                          <a:sym typeface="Times New Roman"/>
                        </a:rPr>
                        <a:t>Range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5km - 10km</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10km - 30km</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&lt;10km</a:t>
                      </a:r>
                      <a:endParaRPr sz="1200">
                        <a:latin typeface="Times New Roman"/>
                        <a:ea typeface="Times New Roman"/>
                        <a:cs typeface="Times New Roman"/>
                        <a:sym typeface="Times New Roman"/>
                      </a:endParaRPr>
                    </a:p>
                  </a:txBody>
                  <a:tcPr marT="63500" marB="63500" marR="63500" marL="63500" anchor="ctr"/>
                </a:tc>
              </a:tr>
              <a:tr h="7782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Data Rate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22 kbps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1.2 kbps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9.6 kbps - 57.6 kbps</a:t>
                      </a:r>
                      <a:endParaRPr sz="1200">
                        <a:latin typeface="Times New Roman"/>
                        <a:ea typeface="Times New Roman"/>
                        <a:cs typeface="Times New Roman"/>
                        <a:sym typeface="Times New Roman"/>
                      </a:endParaRPr>
                    </a:p>
                  </a:txBody>
                  <a:tcPr marT="63500" marB="63500" marR="63500" marL="63500" anchor="ctr"/>
                </a:tc>
              </a:tr>
              <a:tr h="8868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Operating Frequency</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902.3 – 914.9 MHz</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144.39 MHz</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915 MHz</a:t>
                      </a:r>
                      <a:endParaRPr sz="1200">
                        <a:latin typeface="Times New Roman"/>
                        <a:ea typeface="Times New Roman"/>
                        <a:cs typeface="Times New Roman"/>
                        <a:sym typeface="Times New Roman"/>
                      </a:endParaRPr>
                    </a:p>
                  </a:txBody>
                  <a:tcPr marT="63500" marB="63500" marR="63500" marL="63500" anchor="ctr"/>
                </a:tc>
              </a:tr>
            </a:tbl>
          </a:graphicData>
        </a:graphic>
      </p:graphicFrame>
      <p:pic>
        <p:nvPicPr>
          <p:cNvPr id="319" name="Google Shape;319;p42"/>
          <p:cNvPicPr preferRelativeResize="0"/>
          <p:nvPr/>
        </p:nvPicPr>
        <p:blipFill>
          <a:blip r:embed="rId3">
            <a:alphaModFix/>
          </a:blip>
          <a:stretch>
            <a:fillRect/>
          </a:stretch>
        </p:blipFill>
        <p:spPr>
          <a:xfrm>
            <a:off x="0" y="4429125"/>
            <a:ext cx="720000" cy="720000"/>
          </a:xfrm>
          <a:prstGeom prst="rect">
            <a:avLst/>
          </a:prstGeom>
          <a:noFill/>
          <a:ln>
            <a:noFill/>
          </a:ln>
        </p:spPr>
      </p:pic>
      <p:sp>
        <p:nvSpPr>
          <p:cNvPr id="320" name="Google Shape;320;p42"/>
          <p:cNvSpPr txBox="1"/>
          <p:nvPr/>
        </p:nvSpPr>
        <p:spPr>
          <a:xfrm>
            <a:off x="1525850" y="3782825"/>
            <a:ext cx="5771400" cy="11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MAVLink is chosen for the Radio Communication Protocol as it is designed specifically for drone communication and works in conjunction with the RFD900x-us modems that are selected for this project.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MAVLink Communication Design</a:t>
            </a:r>
            <a:endParaRPr b="1">
              <a:latin typeface="Times New Roman"/>
              <a:ea typeface="Times New Roman"/>
              <a:cs typeface="Times New Roman"/>
              <a:sym typeface="Times New Roman"/>
            </a:endParaRPr>
          </a:p>
        </p:txBody>
      </p:sp>
      <p:sp>
        <p:nvSpPr>
          <p:cNvPr id="326" name="Google Shape;32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For the communication protocol, MAVLink is used and </a:t>
            </a:r>
            <a:r>
              <a:rPr lang="en-GB">
                <a:solidFill>
                  <a:schemeClr val="dk1"/>
                </a:solidFill>
                <a:latin typeface="Times New Roman"/>
                <a:ea typeface="Times New Roman"/>
                <a:cs typeface="Times New Roman"/>
                <a:sym typeface="Times New Roman"/>
              </a:rPr>
              <a:t>transferred</a:t>
            </a:r>
            <a:r>
              <a:rPr lang="en-GB">
                <a:solidFill>
                  <a:schemeClr val="dk1"/>
                </a:solidFill>
                <a:latin typeface="Times New Roman"/>
                <a:ea typeface="Times New Roman"/>
                <a:cs typeface="Times New Roman"/>
                <a:sym typeface="Times New Roman"/>
              </a:rPr>
              <a:t> between the base station and drone via the RFD900x-us modems.</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message fields of the data allows for a System ID field to identify which device sent that message.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data fields inside the packets are serialized data that are sent to the modems via a UART connection.</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For </a:t>
            </a:r>
            <a:r>
              <a:rPr lang="en-GB">
                <a:solidFill>
                  <a:schemeClr val="dk1"/>
                </a:solidFill>
                <a:latin typeface="Times New Roman"/>
                <a:ea typeface="Times New Roman"/>
                <a:cs typeface="Times New Roman"/>
                <a:sym typeface="Times New Roman"/>
              </a:rPr>
              <a:t>image</a:t>
            </a:r>
            <a:r>
              <a:rPr lang="en-GB">
                <a:solidFill>
                  <a:schemeClr val="dk1"/>
                </a:solidFill>
                <a:latin typeface="Times New Roman"/>
                <a:ea typeface="Times New Roman"/>
                <a:cs typeface="Times New Roman"/>
                <a:sym typeface="Times New Roman"/>
              </a:rPr>
              <a:t> </a:t>
            </a:r>
            <a:r>
              <a:rPr lang="en-GB">
                <a:solidFill>
                  <a:schemeClr val="dk1"/>
                </a:solidFill>
                <a:latin typeface="Times New Roman"/>
                <a:ea typeface="Times New Roman"/>
                <a:cs typeface="Times New Roman"/>
                <a:sym typeface="Times New Roman"/>
              </a:rPr>
              <a:t>transmission protocol via MAVLink, it will first start with a handshake message before proceeding to send all the encapsulated data packets over to the ground station where it would be assembled.</a:t>
            </a:r>
            <a:endParaRPr>
              <a:solidFill>
                <a:schemeClr val="dk1"/>
              </a:solidFill>
              <a:latin typeface="Times New Roman"/>
              <a:ea typeface="Times New Roman"/>
              <a:cs typeface="Times New Roman"/>
              <a:sym typeface="Times New Roman"/>
            </a:endParaRPr>
          </a:p>
        </p:txBody>
      </p:sp>
      <p:sp>
        <p:nvSpPr>
          <p:cNvPr id="327" name="Google Shape;32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28" name="Google Shape;328;p43"/>
          <p:cNvPicPr preferRelativeResize="0"/>
          <p:nvPr/>
        </p:nvPicPr>
        <p:blipFill>
          <a:blip r:embed="rId3">
            <a:alphaModFix/>
          </a:blip>
          <a:stretch>
            <a:fillRect/>
          </a:stretch>
        </p:blipFill>
        <p:spPr>
          <a:xfrm>
            <a:off x="0" y="4429125"/>
            <a:ext cx="720000" cy="720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Drone Automation Software Selection</a:t>
            </a:r>
            <a:endParaRPr b="1">
              <a:latin typeface="Times New Roman"/>
              <a:ea typeface="Times New Roman"/>
              <a:cs typeface="Times New Roman"/>
              <a:sym typeface="Times New Roman"/>
            </a:endParaRPr>
          </a:p>
        </p:txBody>
      </p:sp>
      <p:sp>
        <p:nvSpPr>
          <p:cNvPr id="334" name="Google Shape;33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335" name="Google Shape;335;p44"/>
          <p:cNvGraphicFramePr/>
          <p:nvPr/>
        </p:nvGraphicFramePr>
        <p:xfrm>
          <a:off x="794638" y="572688"/>
          <a:ext cx="3000000" cy="3000000"/>
        </p:xfrm>
        <a:graphic>
          <a:graphicData uri="http://schemas.openxmlformats.org/drawingml/2006/table">
            <a:tbl>
              <a:tblPr>
                <a:noFill/>
                <a:tableStyleId>{E42BAC45-C59E-43F8-A8E8-F3F4521ABA27}</a:tableStyleId>
              </a:tblPr>
              <a:tblGrid>
                <a:gridCol w="1126100"/>
                <a:gridCol w="722025"/>
                <a:gridCol w="704625"/>
                <a:gridCol w="835125"/>
                <a:gridCol w="809000"/>
                <a:gridCol w="1104250"/>
              </a:tblGrid>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Criteria</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ArduPilot</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PX4</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DroneKit</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Paparazzi UAV</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CleanFlight</a:t>
                      </a:r>
                      <a:endParaRPr b="1" sz="1200">
                        <a:latin typeface="Times New Roman"/>
                        <a:ea typeface="Times New Roman"/>
                        <a:cs typeface="Times New Roman"/>
                        <a:sym typeface="Times New Roman"/>
                      </a:endParaRPr>
                    </a:p>
                  </a:txBody>
                  <a:tcPr marT="63500" marB="63500" marR="63500" marL="63500" anchor="ctr">
                    <a:solidFill>
                      <a:srgbClr val="999999"/>
                    </a:solidFill>
                  </a:tcP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Development Language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C/C++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C/C++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Python, Android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C</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C</a:t>
                      </a:r>
                      <a:endParaRPr sz="1200">
                        <a:latin typeface="Times New Roman"/>
                        <a:ea typeface="Times New Roman"/>
                        <a:cs typeface="Times New Roman"/>
                        <a:sym typeface="Times New Roman"/>
                      </a:endParaRPr>
                    </a:p>
                  </a:txBody>
                  <a:tcPr marT="63500" marB="63500" marR="63500" marL="63500" anchor="ct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Mission Planning</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Bad</a:t>
                      </a:r>
                      <a:endParaRPr sz="1200">
                        <a:latin typeface="Times New Roman"/>
                        <a:ea typeface="Times New Roman"/>
                        <a:cs typeface="Times New Roman"/>
                        <a:sym typeface="Times New Roman"/>
                      </a:endParaRPr>
                    </a:p>
                  </a:txBody>
                  <a:tcPr marT="63500" marB="63500" marR="63500" marL="63500" anchor="ct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Real-time Telemetry</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Yes</a:t>
                      </a:r>
                      <a:endParaRPr sz="1200">
                        <a:latin typeface="Times New Roman"/>
                        <a:ea typeface="Times New Roman"/>
                        <a:cs typeface="Times New Roman"/>
                        <a:sym typeface="Times New Roman"/>
                      </a:endParaRPr>
                    </a:p>
                  </a:txBody>
                  <a:tcPr marT="63500" marB="63500" marR="63500" marL="63500" anchor="ct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Ease of Use</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Sensor Integration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Good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r>
              <a:tr h="47202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Autonomous Navigation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Advanced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Advanced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Advanced</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Basic</a:t>
                      </a:r>
                      <a:endParaRPr sz="1200">
                        <a:latin typeface="Times New Roman"/>
                        <a:ea typeface="Times New Roman"/>
                        <a:cs typeface="Times New Roman"/>
                        <a:sym typeface="Times New Roman"/>
                      </a:endParaRPr>
                    </a:p>
                  </a:txBody>
                  <a:tcPr marT="63500" marB="63500" marR="63500" marL="63500" anchor="ctr"/>
                </a:tc>
              </a:tr>
              <a:tr h="786275">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Modularity and Customization</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63500" marB="63500" marR="63500" marL="63500" anchor="ctr"/>
                </a:tc>
              </a:tr>
            </a:tbl>
          </a:graphicData>
        </a:graphic>
      </p:graphicFrame>
      <p:pic>
        <p:nvPicPr>
          <p:cNvPr id="336" name="Google Shape;336;p44"/>
          <p:cNvPicPr preferRelativeResize="0"/>
          <p:nvPr/>
        </p:nvPicPr>
        <p:blipFill>
          <a:blip r:embed="rId3">
            <a:alphaModFix/>
          </a:blip>
          <a:stretch>
            <a:fillRect/>
          </a:stretch>
        </p:blipFill>
        <p:spPr>
          <a:xfrm>
            <a:off x="0" y="4429125"/>
            <a:ext cx="720000" cy="720000"/>
          </a:xfrm>
          <a:prstGeom prst="rect">
            <a:avLst/>
          </a:prstGeom>
          <a:noFill/>
          <a:ln>
            <a:noFill/>
          </a:ln>
        </p:spPr>
      </p:pic>
      <p:sp>
        <p:nvSpPr>
          <p:cNvPr id="337" name="Google Shape;337;p44"/>
          <p:cNvSpPr txBox="1"/>
          <p:nvPr/>
        </p:nvSpPr>
        <p:spPr>
          <a:xfrm>
            <a:off x="6222075" y="1168075"/>
            <a:ext cx="2799000" cy="24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Times New Roman"/>
                <a:ea typeface="Times New Roman"/>
                <a:cs typeface="Times New Roman"/>
                <a:sym typeface="Times New Roman"/>
              </a:rPr>
              <a:t>ArduPilot is the clear winner due to its community support across unmanned vehicles, easy integration with </a:t>
            </a:r>
            <a:r>
              <a:rPr lang="en-GB" sz="1800">
                <a:solidFill>
                  <a:schemeClr val="dk1"/>
                </a:solidFill>
                <a:latin typeface="Times New Roman"/>
                <a:ea typeface="Times New Roman"/>
                <a:cs typeface="Times New Roman"/>
                <a:sym typeface="Times New Roman"/>
              </a:rPr>
              <a:t>Mission Planner</a:t>
            </a:r>
            <a:r>
              <a:rPr lang="en-GB" sz="1800">
                <a:solidFill>
                  <a:schemeClr val="dk1"/>
                </a:solidFill>
                <a:latin typeface="Times New Roman"/>
                <a:ea typeface="Times New Roman"/>
                <a:cs typeface="Times New Roman"/>
                <a:sym typeface="Times New Roman"/>
              </a:rPr>
              <a:t> for mission planning and designed specifically for MAVLink.</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5"/>
          <p:cNvSpPr txBox="1"/>
          <p:nvPr>
            <p:ph type="title"/>
          </p:nvPr>
        </p:nvSpPr>
        <p:spPr>
          <a:xfrm>
            <a:off x="0" y="0"/>
            <a:ext cx="914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Times"/>
                <a:ea typeface="Times"/>
                <a:cs typeface="Times"/>
                <a:sym typeface="Times"/>
              </a:rPr>
              <a:t>Detection Algorithm Comparison</a:t>
            </a:r>
            <a:endParaRPr b="1">
              <a:latin typeface="Times"/>
              <a:ea typeface="Times"/>
              <a:cs typeface="Times"/>
              <a:sym typeface="Times"/>
            </a:endParaRPr>
          </a:p>
        </p:txBody>
      </p:sp>
      <p:sp>
        <p:nvSpPr>
          <p:cNvPr id="343" name="Google Shape;34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344" name="Google Shape;344;p45"/>
          <p:cNvGraphicFramePr/>
          <p:nvPr/>
        </p:nvGraphicFramePr>
        <p:xfrm>
          <a:off x="952500" y="667388"/>
          <a:ext cx="3000000" cy="3000000"/>
        </p:xfrm>
        <a:graphic>
          <a:graphicData uri="http://schemas.openxmlformats.org/drawingml/2006/table">
            <a:tbl>
              <a:tblPr>
                <a:noFill/>
                <a:tableStyleId>{9BEABABF-511B-4D29-9E36-947EC27D0BD4}</a:tableStyleId>
              </a:tblPr>
              <a:tblGrid>
                <a:gridCol w="1447800"/>
                <a:gridCol w="1447800"/>
                <a:gridCol w="1036475"/>
                <a:gridCol w="1577725"/>
                <a:gridCol w="1729200"/>
              </a:tblGrid>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Algorithm</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Speed</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Accuracy</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Computational Cost</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Best Use Case</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684725">
                <a:tc>
                  <a:txBody>
                    <a:bodyPr/>
                    <a:lstStyle/>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YOLO</a:t>
                      </a:r>
                      <a:endParaRPr b="1" sz="1200">
                        <a:highlight>
                          <a:srgbClr val="FFFF00"/>
                        </a:highlight>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Fastest</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Real-time detection on low power devices</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Faster R-CNN</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Slow</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Very 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Very 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High-precision object detection</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SSD</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Faster</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Balanced speed and accuracy</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EfficientDet</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Efficient high-quality detection</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CenterNet</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Slow</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Very 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Very 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Keypoint-based object detection</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sz="1200">
                          <a:latin typeface="Times New Roman"/>
                          <a:ea typeface="Times New Roman"/>
                          <a:cs typeface="Times New Roman"/>
                          <a:sym typeface="Times New Roman"/>
                        </a:rPr>
                        <a:t>RetinaNet</a:t>
                      </a:r>
                      <a:endParaRPr b="1" sz="12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Moderate</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High</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Balanced Detection for general application</a:t>
                      </a:r>
                      <a:endParaRPr sz="1200">
                        <a:latin typeface="Times New Roman"/>
                        <a:ea typeface="Times New Roman"/>
                        <a:cs typeface="Times New Roman"/>
                        <a:sym typeface="Times New Roman"/>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345" name="Google Shape;345;p45"/>
          <p:cNvPicPr preferRelativeResize="0"/>
          <p:nvPr/>
        </p:nvPicPr>
        <p:blipFill>
          <a:blip r:embed="rId3">
            <a:alphaModFix/>
          </a:blip>
          <a:stretch>
            <a:fillRect/>
          </a:stretch>
        </p:blipFill>
        <p:spPr>
          <a:xfrm>
            <a:off x="11" y="4423500"/>
            <a:ext cx="719999" cy="720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6"/>
          <p:cNvSpPr txBox="1"/>
          <p:nvPr>
            <p:ph type="title"/>
          </p:nvPr>
        </p:nvSpPr>
        <p:spPr>
          <a:xfrm>
            <a:off x="0" y="530000"/>
            <a:ext cx="9144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YOLO Versions Comparison</a:t>
            </a:r>
            <a:endParaRPr b="1">
              <a:latin typeface="Times New Roman"/>
              <a:ea typeface="Times New Roman"/>
              <a:cs typeface="Times New Roman"/>
              <a:sym typeface="Times New Roman"/>
            </a:endParaRPr>
          </a:p>
        </p:txBody>
      </p:sp>
      <p:sp>
        <p:nvSpPr>
          <p:cNvPr id="351" name="Google Shape;35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52" name="Google Shape;352;p46"/>
          <p:cNvPicPr preferRelativeResize="0"/>
          <p:nvPr/>
        </p:nvPicPr>
        <p:blipFill>
          <a:blip r:embed="rId3">
            <a:alphaModFix/>
          </a:blip>
          <a:stretch>
            <a:fillRect/>
          </a:stretch>
        </p:blipFill>
        <p:spPr>
          <a:xfrm>
            <a:off x="-12" y="4423488"/>
            <a:ext cx="719999" cy="720000"/>
          </a:xfrm>
          <a:prstGeom prst="rect">
            <a:avLst/>
          </a:prstGeom>
          <a:noFill/>
          <a:ln>
            <a:noFill/>
          </a:ln>
        </p:spPr>
      </p:pic>
      <p:graphicFrame>
        <p:nvGraphicFramePr>
          <p:cNvPr id="353" name="Google Shape;353;p46"/>
          <p:cNvGraphicFramePr/>
          <p:nvPr/>
        </p:nvGraphicFramePr>
        <p:xfrm>
          <a:off x="952500" y="1619250"/>
          <a:ext cx="3000000" cy="3000000"/>
        </p:xfrm>
        <a:graphic>
          <a:graphicData uri="http://schemas.openxmlformats.org/drawingml/2006/table">
            <a:tbl>
              <a:tblPr>
                <a:noFill/>
                <a:tableStyleId>{9BEABABF-511B-4D29-9E36-947EC27D0BD4}</a:tableStyleId>
              </a:tblPr>
              <a:tblGrid>
                <a:gridCol w="2413000"/>
                <a:gridCol w="2413000"/>
                <a:gridCol w="2413000"/>
              </a:tblGrid>
              <a:tr h="381000">
                <a:tc>
                  <a:txBody>
                    <a:bodyPr/>
                    <a:lstStyle/>
                    <a:p>
                      <a:pPr indent="0" lvl="0" marL="0" rtl="0" algn="ctr">
                        <a:spcBef>
                          <a:spcPts val="0"/>
                        </a:spcBef>
                        <a:spcAft>
                          <a:spcPts val="0"/>
                        </a:spcAft>
                        <a:buNone/>
                      </a:pPr>
                      <a:r>
                        <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Standard</a:t>
                      </a:r>
                      <a:r>
                        <a:rPr b="1" lang="en-GB">
                          <a:latin typeface="Times New Roman"/>
                          <a:ea typeface="Times New Roman"/>
                          <a:cs typeface="Times New Roman"/>
                          <a:sym typeface="Times New Roman"/>
                        </a:rPr>
                        <a:t> Versions</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Nano Version</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YOLOv5</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4-6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10-15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YOLOv6</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3-5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15-20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YOLOv8</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4-6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8-12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YOLOv10</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99999"/>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6-10 FPS</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highlight>
                            <a:srgbClr val="FFFF00"/>
                          </a:highlight>
                          <a:latin typeface="Times New Roman"/>
                          <a:ea typeface="Times New Roman"/>
                          <a:cs typeface="Times New Roman"/>
                          <a:sym typeface="Times New Roman"/>
                        </a:rPr>
                        <a:t>18-22 FPS</a:t>
                      </a:r>
                      <a:endParaRPr>
                        <a:highlight>
                          <a:srgbClr val="FFFF00"/>
                        </a:highlight>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Software Use Case Diagram</a:t>
            </a:r>
            <a:endParaRPr b="1">
              <a:latin typeface="Times New Roman"/>
              <a:ea typeface="Times New Roman"/>
              <a:cs typeface="Times New Roman"/>
              <a:sym typeface="Times New Roman"/>
            </a:endParaRPr>
          </a:p>
        </p:txBody>
      </p:sp>
      <p:sp>
        <p:nvSpPr>
          <p:cNvPr id="359" name="Google Shape;35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60" name="Google Shape;360;p47"/>
          <p:cNvPicPr preferRelativeResize="0"/>
          <p:nvPr/>
        </p:nvPicPr>
        <p:blipFill>
          <a:blip r:embed="rId3">
            <a:alphaModFix/>
          </a:blip>
          <a:stretch>
            <a:fillRect/>
          </a:stretch>
        </p:blipFill>
        <p:spPr>
          <a:xfrm>
            <a:off x="2104850" y="1152475"/>
            <a:ext cx="5020350" cy="3765275"/>
          </a:xfrm>
          <a:prstGeom prst="rect">
            <a:avLst/>
          </a:prstGeom>
          <a:noFill/>
          <a:ln>
            <a:noFill/>
          </a:ln>
        </p:spPr>
      </p:pic>
      <p:pic>
        <p:nvPicPr>
          <p:cNvPr id="361" name="Google Shape;361;p47"/>
          <p:cNvPicPr preferRelativeResize="0"/>
          <p:nvPr/>
        </p:nvPicPr>
        <p:blipFill>
          <a:blip r:embed="rId4">
            <a:alphaModFix/>
          </a:blip>
          <a:stretch>
            <a:fillRect/>
          </a:stretch>
        </p:blipFill>
        <p:spPr>
          <a:xfrm>
            <a:off x="0" y="4429125"/>
            <a:ext cx="720000" cy="720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Times New Roman"/>
                <a:ea typeface="Times New Roman"/>
                <a:cs typeface="Times New Roman"/>
                <a:sym typeface="Times New Roman"/>
              </a:rPr>
              <a:t>Software Design - Computer Vision</a:t>
            </a:r>
            <a:endParaRPr b="1">
              <a:latin typeface="Times New Roman"/>
              <a:ea typeface="Times New Roman"/>
              <a:cs typeface="Times New Roman"/>
              <a:sym typeface="Times New Roman"/>
            </a:endParaRPr>
          </a:p>
        </p:txBody>
      </p:sp>
      <p:sp>
        <p:nvSpPr>
          <p:cNvPr id="367" name="Google Shape;36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68" name="Google Shape;368;p48" title="Combined CV Software Diagram.drawio.png"/>
          <p:cNvPicPr preferRelativeResize="0"/>
          <p:nvPr/>
        </p:nvPicPr>
        <p:blipFill>
          <a:blip r:embed="rId3">
            <a:alphaModFix/>
          </a:blip>
          <a:stretch>
            <a:fillRect/>
          </a:stretch>
        </p:blipFill>
        <p:spPr>
          <a:xfrm>
            <a:off x="2234313" y="1017725"/>
            <a:ext cx="4723775" cy="3975800"/>
          </a:xfrm>
          <a:prstGeom prst="rect">
            <a:avLst/>
          </a:prstGeom>
          <a:noFill/>
          <a:ln>
            <a:noFill/>
          </a:ln>
        </p:spPr>
      </p:pic>
      <p:pic>
        <p:nvPicPr>
          <p:cNvPr id="369" name="Google Shape;369;p48"/>
          <p:cNvPicPr preferRelativeResize="0"/>
          <p:nvPr/>
        </p:nvPicPr>
        <p:blipFill>
          <a:blip r:embed="rId4">
            <a:alphaModFix/>
          </a:blip>
          <a:stretch>
            <a:fillRect/>
          </a:stretch>
        </p:blipFill>
        <p:spPr>
          <a:xfrm>
            <a:off x="-12" y="4423488"/>
            <a:ext cx="719999" cy="720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Times New Roman"/>
                <a:ea typeface="Times New Roman"/>
                <a:cs typeface="Times New Roman"/>
                <a:sym typeface="Times New Roman"/>
              </a:rPr>
              <a:t>Software Design - Model Training</a:t>
            </a:r>
            <a:endParaRPr b="1">
              <a:latin typeface="Times New Roman"/>
              <a:ea typeface="Times New Roman"/>
              <a:cs typeface="Times New Roman"/>
              <a:sym typeface="Times New Roman"/>
            </a:endParaRPr>
          </a:p>
        </p:txBody>
      </p:sp>
      <p:pic>
        <p:nvPicPr>
          <p:cNvPr id="375" name="Google Shape;375;p49"/>
          <p:cNvPicPr preferRelativeResize="0"/>
          <p:nvPr/>
        </p:nvPicPr>
        <p:blipFill>
          <a:blip r:embed="rId3">
            <a:alphaModFix/>
          </a:blip>
          <a:stretch>
            <a:fillRect/>
          </a:stretch>
        </p:blipFill>
        <p:spPr>
          <a:xfrm>
            <a:off x="782863" y="1099675"/>
            <a:ext cx="7578275" cy="1618275"/>
          </a:xfrm>
          <a:prstGeom prst="rect">
            <a:avLst/>
          </a:prstGeom>
          <a:noFill/>
          <a:ln>
            <a:noFill/>
          </a:ln>
        </p:spPr>
      </p:pic>
      <p:sp>
        <p:nvSpPr>
          <p:cNvPr id="376" name="Google Shape;376;p49"/>
          <p:cNvSpPr txBox="1"/>
          <p:nvPr/>
        </p:nvSpPr>
        <p:spPr>
          <a:xfrm>
            <a:off x="311700" y="2717950"/>
            <a:ext cx="88428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Gather aerial images will come from footage taken by the drone.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Bounding boxes around humans will be annotated using Roboflow or Labellmg</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The labeled images will be loaded into Pytorch for model training</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False positives and false negatives will be analyzed to </a:t>
            </a:r>
            <a:r>
              <a:rPr lang="en-GB" sz="1800">
                <a:solidFill>
                  <a:schemeClr val="dk1"/>
                </a:solidFill>
                <a:latin typeface="Times New Roman"/>
                <a:ea typeface="Times New Roman"/>
                <a:cs typeface="Times New Roman"/>
                <a:sym typeface="Times New Roman"/>
              </a:rPr>
              <a:t>adjunct</a:t>
            </a:r>
            <a:r>
              <a:rPr lang="en-GB" sz="1800">
                <a:solidFill>
                  <a:schemeClr val="dk1"/>
                </a:solidFill>
                <a:latin typeface="Times New Roman"/>
                <a:ea typeface="Times New Roman"/>
                <a:cs typeface="Times New Roman"/>
                <a:sym typeface="Times New Roman"/>
              </a:rPr>
              <a:t> parameters and improve accuracy</a:t>
            </a:r>
            <a:endParaRPr sz="1800">
              <a:solidFill>
                <a:schemeClr val="dk1"/>
              </a:solidFill>
              <a:latin typeface="Times New Roman"/>
              <a:ea typeface="Times New Roman"/>
              <a:cs typeface="Times New Roman"/>
              <a:sym typeface="Times New Roman"/>
            </a:endParaRPr>
          </a:p>
        </p:txBody>
      </p:sp>
      <p:sp>
        <p:nvSpPr>
          <p:cNvPr id="377" name="Google Shape;37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378" name="Google Shape;378;p49"/>
          <p:cNvPicPr preferRelativeResize="0"/>
          <p:nvPr/>
        </p:nvPicPr>
        <p:blipFill>
          <a:blip r:embed="rId4">
            <a:alphaModFix/>
          </a:blip>
          <a:stretch>
            <a:fillRect/>
          </a:stretch>
        </p:blipFill>
        <p:spPr>
          <a:xfrm>
            <a:off x="11" y="4423500"/>
            <a:ext cx="719999" cy="720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0"/>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Sparrow GUI overview</a:t>
            </a:r>
            <a:endParaRPr/>
          </a:p>
        </p:txBody>
      </p:sp>
      <p:sp>
        <p:nvSpPr>
          <p:cNvPr id="384" name="Google Shape;384;p50"/>
          <p:cNvSpPr txBox="1"/>
          <p:nvPr>
            <p:ph idx="1" type="body"/>
          </p:nvPr>
        </p:nvSpPr>
        <p:spPr>
          <a:xfrm>
            <a:off x="4971300" y="1344875"/>
            <a:ext cx="4172700" cy="3525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Live image feed (RGB &amp; Thermal)</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GPS coordinate tracking (Drone &amp; Base)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Fullscreen support for touchscreen</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Dynamic layout switching (RGB only, Thermal only, Both)</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MAVLink-based image transmission</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GB">
                <a:latin typeface="Times New Roman"/>
                <a:ea typeface="Times New Roman"/>
                <a:cs typeface="Times New Roman"/>
                <a:sym typeface="Times New Roman"/>
              </a:rPr>
              <a:t>Custom battery level indicator</a:t>
            </a:r>
            <a:endParaRPr>
              <a:latin typeface="Times New Roman"/>
              <a:ea typeface="Times New Roman"/>
              <a:cs typeface="Times New Roman"/>
              <a:sym typeface="Times New Roman"/>
            </a:endParaRPr>
          </a:p>
        </p:txBody>
      </p:sp>
      <p:sp>
        <p:nvSpPr>
          <p:cNvPr id="385" name="Google Shape;38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86" name="Google Shape;386;p50"/>
          <p:cNvPicPr preferRelativeResize="0"/>
          <p:nvPr/>
        </p:nvPicPr>
        <p:blipFill>
          <a:blip r:embed="rId3">
            <a:alphaModFix/>
          </a:blip>
          <a:stretch>
            <a:fillRect/>
          </a:stretch>
        </p:blipFill>
        <p:spPr>
          <a:xfrm>
            <a:off x="311700" y="809300"/>
            <a:ext cx="4058099" cy="3524900"/>
          </a:xfrm>
          <a:prstGeom prst="rect">
            <a:avLst/>
          </a:prstGeom>
          <a:noFill/>
          <a:ln>
            <a:noFill/>
          </a:ln>
        </p:spPr>
      </p:pic>
      <p:pic>
        <p:nvPicPr>
          <p:cNvPr id="387" name="Google Shape;387;p50"/>
          <p:cNvPicPr preferRelativeResize="0"/>
          <p:nvPr/>
        </p:nvPicPr>
        <p:blipFill>
          <a:blip r:embed="rId4">
            <a:alphaModFix/>
          </a:blip>
          <a:stretch>
            <a:fillRect/>
          </a:stretch>
        </p:blipFill>
        <p:spPr>
          <a:xfrm>
            <a:off x="11" y="4423500"/>
            <a:ext cx="719999" cy="720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STM32 </a:t>
            </a:r>
            <a:r>
              <a:rPr b="1" lang="en-GB">
                <a:latin typeface="Times New Roman"/>
                <a:ea typeface="Times New Roman"/>
                <a:cs typeface="Times New Roman"/>
                <a:sym typeface="Times New Roman"/>
              </a:rPr>
              <a:t>Testing</a:t>
            </a:r>
            <a:endParaRPr b="1">
              <a:latin typeface="Times New Roman"/>
              <a:ea typeface="Times New Roman"/>
              <a:cs typeface="Times New Roman"/>
              <a:sym typeface="Times New Roman"/>
            </a:endParaRPr>
          </a:p>
        </p:txBody>
      </p:sp>
      <p:sp>
        <p:nvSpPr>
          <p:cNvPr id="393" name="Google Shape;39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94" name="Google Shape;394;p51"/>
          <p:cNvPicPr preferRelativeResize="0"/>
          <p:nvPr/>
        </p:nvPicPr>
        <p:blipFill>
          <a:blip r:embed="rId3">
            <a:alphaModFix/>
          </a:blip>
          <a:stretch>
            <a:fillRect/>
          </a:stretch>
        </p:blipFill>
        <p:spPr>
          <a:xfrm>
            <a:off x="-12" y="4423488"/>
            <a:ext cx="720000" cy="720001"/>
          </a:xfrm>
          <a:prstGeom prst="rect">
            <a:avLst/>
          </a:prstGeom>
          <a:noFill/>
          <a:ln>
            <a:noFill/>
          </a:ln>
        </p:spPr>
      </p:pic>
      <p:sp>
        <p:nvSpPr>
          <p:cNvPr id="395" name="Google Shape;395;p51"/>
          <p:cNvSpPr txBox="1"/>
          <p:nvPr>
            <p:ph idx="1" type="body"/>
          </p:nvPr>
        </p:nvSpPr>
        <p:spPr>
          <a:xfrm>
            <a:off x="311700" y="1152475"/>
            <a:ext cx="3999900" cy="34164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lang="en-GB" sz="1200">
                <a:solidFill>
                  <a:schemeClr val="dk1"/>
                </a:solidFill>
                <a:latin typeface="Times New Roman"/>
                <a:ea typeface="Times New Roman"/>
                <a:cs typeface="Times New Roman"/>
                <a:sym typeface="Times New Roman"/>
              </a:rPr>
              <a:t>To start our testing, we programmed the STM32 to blink an LED to ensure proper functionality.</a:t>
            </a:r>
            <a:endParaRPr sz="1200">
              <a:solidFill>
                <a:schemeClr val="dk1"/>
              </a:solidFill>
              <a:latin typeface="Times New Roman"/>
              <a:ea typeface="Times New Roman"/>
              <a:cs typeface="Times New Roman"/>
              <a:sym typeface="Times New Roman"/>
            </a:endParaRPr>
          </a:p>
        </p:txBody>
      </p:sp>
      <p:pic>
        <p:nvPicPr>
          <p:cNvPr id="396" name="Google Shape;396;p51"/>
          <p:cNvPicPr preferRelativeResize="0"/>
          <p:nvPr/>
        </p:nvPicPr>
        <p:blipFill>
          <a:blip r:embed="rId4">
            <a:alphaModFix/>
          </a:blip>
          <a:stretch>
            <a:fillRect/>
          </a:stretch>
        </p:blipFill>
        <p:spPr>
          <a:xfrm>
            <a:off x="4832400" y="1345250"/>
            <a:ext cx="3782675" cy="3356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2"/>
          <p:cNvSpPr txBox="1"/>
          <p:nvPr>
            <p:ph type="title"/>
          </p:nvPr>
        </p:nvSpPr>
        <p:spPr>
          <a:xfrm>
            <a:off x="0" y="0"/>
            <a:ext cx="9144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GPS Testing</a:t>
            </a:r>
            <a:endParaRPr b="1">
              <a:latin typeface="Times New Roman"/>
              <a:ea typeface="Times New Roman"/>
              <a:cs typeface="Times New Roman"/>
              <a:sym typeface="Times New Roman"/>
            </a:endParaRPr>
          </a:p>
        </p:txBody>
      </p:sp>
      <p:sp>
        <p:nvSpPr>
          <p:cNvPr id="402" name="Google Shape;402;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03" name="Google Shape;403;p52"/>
          <p:cNvPicPr preferRelativeResize="0"/>
          <p:nvPr/>
        </p:nvPicPr>
        <p:blipFill>
          <a:blip r:embed="rId3">
            <a:alphaModFix/>
          </a:blip>
          <a:stretch>
            <a:fillRect/>
          </a:stretch>
        </p:blipFill>
        <p:spPr>
          <a:xfrm>
            <a:off x="-12" y="4423488"/>
            <a:ext cx="720000" cy="720001"/>
          </a:xfrm>
          <a:prstGeom prst="rect">
            <a:avLst/>
          </a:prstGeom>
          <a:noFill/>
          <a:ln>
            <a:noFill/>
          </a:ln>
        </p:spPr>
      </p:pic>
      <p:pic>
        <p:nvPicPr>
          <p:cNvPr id="404" name="Google Shape;404;p52"/>
          <p:cNvPicPr preferRelativeResize="0"/>
          <p:nvPr/>
        </p:nvPicPr>
        <p:blipFill>
          <a:blip r:embed="rId4">
            <a:alphaModFix/>
          </a:blip>
          <a:stretch>
            <a:fillRect/>
          </a:stretch>
        </p:blipFill>
        <p:spPr>
          <a:xfrm>
            <a:off x="0" y="755700"/>
            <a:ext cx="4572000" cy="996650"/>
          </a:xfrm>
          <a:prstGeom prst="rect">
            <a:avLst/>
          </a:prstGeom>
          <a:noFill/>
          <a:ln>
            <a:noFill/>
          </a:ln>
        </p:spPr>
      </p:pic>
      <p:pic>
        <p:nvPicPr>
          <p:cNvPr id="405" name="Google Shape;405;p52"/>
          <p:cNvPicPr preferRelativeResize="0"/>
          <p:nvPr/>
        </p:nvPicPr>
        <p:blipFill>
          <a:blip r:embed="rId5">
            <a:alphaModFix/>
          </a:blip>
          <a:stretch>
            <a:fillRect/>
          </a:stretch>
        </p:blipFill>
        <p:spPr>
          <a:xfrm>
            <a:off x="0" y="1752350"/>
            <a:ext cx="4572001" cy="2671150"/>
          </a:xfrm>
          <a:prstGeom prst="rect">
            <a:avLst/>
          </a:prstGeom>
          <a:noFill/>
          <a:ln>
            <a:noFill/>
          </a:ln>
        </p:spPr>
      </p:pic>
      <p:pic>
        <p:nvPicPr>
          <p:cNvPr id="406" name="Google Shape;406;p52"/>
          <p:cNvPicPr preferRelativeResize="0"/>
          <p:nvPr/>
        </p:nvPicPr>
        <p:blipFill>
          <a:blip r:embed="rId6">
            <a:alphaModFix/>
          </a:blip>
          <a:stretch>
            <a:fillRect/>
          </a:stretch>
        </p:blipFill>
        <p:spPr>
          <a:xfrm>
            <a:off x="4572000" y="755700"/>
            <a:ext cx="4092593" cy="3667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3"/>
          <p:cNvSpPr txBox="1"/>
          <p:nvPr>
            <p:ph type="title"/>
          </p:nvPr>
        </p:nvSpPr>
        <p:spPr>
          <a:xfrm>
            <a:off x="0" y="0"/>
            <a:ext cx="9144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Regulator Testing</a:t>
            </a:r>
            <a:endParaRPr b="1">
              <a:latin typeface="Times New Roman"/>
              <a:ea typeface="Times New Roman"/>
              <a:cs typeface="Times New Roman"/>
              <a:sym typeface="Times New Roman"/>
            </a:endParaRPr>
          </a:p>
        </p:txBody>
      </p:sp>
      <p:sp>
        <p:nvSpPr>
          <p:cNvPr id="412" name="Google Shape;41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413" name="Google Shape;413;p53"/>
          <p:cNvPicPr preferRelativeResize="0"/>
          <p:nvPr/>
        </p:nvPicPr>
        <p:blipFill>
          <a:blip r:embed="rId3">
            <a:alphaModFix/>
          </a:blip>
          <a:stretch>
            <a:fillRect/>
          </a:stretch>
        </p:blipFill>
        <p:spPr>
          <a:xfrm>
            <a:off x="-3" y="4423497"/>
            <a:ext cx="720000" cy="720000"/>
          </a:xfrm>
          <a:prstGeom prst="rect">
            <a:avLst/>
          </a:prstGeom>
          <a:noFill/>
          <a:ln>
            <a:noFill/>
          </a:ln>
        </p:spPr>
      </p:pic>
      <p:pic>
        <p:nvPicPr>
          <p:cNvPr id="414" name="Google Shape;414;p53"/>
          <p:cNvPicPr preferRelativeResize="0"/>
          <p:nvPr/>
        </p:nvPicPr>
        <p:blipFill>
          <a:blip r:embed="rId4">
            <a:alphaModFix/>
          </a:blip>
          <a:stretch>
            <a:fillRect/>
          </a:stretch>
        </p:blipFill>
        <p:spPr>
          <a:xfrm>
            <a:off x="159363" y="908100"/>
            <a:ext cx="8825277" cy="336299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4"/>
          <p:cNvSpPr txBox="1"/>
          <p:nvPr>
            <p:ph type="title"/>
          </p:nvPr>
        </p:nvSpPr>
        <p:spPr>
          <a:xfrm>
            <a:off x="0" y="0"/>
            <a:ext cx="91440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latin typeface="Times New Roman"/>
                <a:ea typeface="Times New Roman"/>
                <a:cs typeface="Times New Roman"/>
                <a:sym typeface="Times New Roman"/>
              </a:rPr>
              <a:t>BMS </a:t>
            </a:r>
            <a:r>
              <a:rPr b="1" lang="en-GB">
                <a:latin typeface="Times New Roman"/>
                <a:ea typeface="Times New Roman"/>
                <a:cs typeface="Times New Roman"/>
                <a:sym typeface="Times New Roman"/>
              </a:rPr>
              <a:t>Testing</a:t>
            </a:r>
            <a:endParaRPr b="1">
              <a:latin typeface="Times New Roman"/>
              <a:ea typeface="Times New Roman"/>
              <a:cs typeface="Times New Roman"/>
              <a:sym typeface="Times New Roman"/>
            </a:endParaRPr>
          </a:p>
        </p:txBody>
      </p:sp>
      <p:sp>
        <p:nvSpPr>
          <p:cNvPr id="420" name="Google Shape;42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421" name="Google Shape;421;p54"/>
          <p:cNvPicPr preferRelativeResize="0"/>
          <p:nvPr/>
        </p:nvPicPr>
        <p:blipFill>
          <a:blip r:embed="rId3">
            <a:alphaModFix/>
          </a:blip>
          <a:stretch>
            <a:fillRect/>
          </a:stretch>
        </p:blipFill>
        <p:spPr>
          <a:xfrm>
            <a:off x="-3" y="4423497"/>
            <a:ext cx="720000" cy="720000"/>
          </a:xfrm>
          <a:prstGeom prst="rect">
            <a:avLst/>
          </a:prstGeom>
          <a:noFill/>
          <a:ln>
            <a:noFill/>
          </a:ln>
        </p:spPr>
      </p:pic>
      <p:graphicFrame>
        <p:nvGraphicFramePr>
          <p:cNvPr id="422" name="Google Shape;422;p54"/>
          <p:cNvGraphicFramePr/>
          <p:nvPr/>
        </p:nvGraphicFramePr>
        <p:xfrm>
          <a:off x="952500" y="986950"/>
          <a:ext cx="3000000" cy="3000000"/>
        </p:xfrm>
        <a:graphic>
          <a:graphicData uri="http://schemas.openxmlformats.org/drawingml/2006/table">
            <a:tbl>
              <a:tblPr>
                <a:noFill/>
                <a:tableStyleId>{9BEABABF-511B-4D29-9E36-947EC27D0BD4}</a:tableStyleId>
              </a:tblPr>
              <a:tblGrid>
                <a:gridCol w="645175"/>
                <a:gridCol w="1098075"/>
                <a:gridCol w="2747875"/>
                <a:gridCol w="2747875"/>
              </a:tblGrid>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Time</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Fault Flags</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Measured </a:t>
                      </a:r>
                      <a:r>
                        <a:rPr b="1" lang="en-GB">
                          <a:latin typeface="Times New Roman"/>
                          <a:ea typeface="Times New Roman"/>
                          <a:cs typeface="Times New Roman"/>
                          <a:sym typeface="Times New Roman"/>
                        </a:rPr>
                        <a:t>Battery</a:t>
                      </a:r>
                      <a:r>
                        <a:rPr b="1" lang="en-GB">
                          <a:latin typeface="Times New Roman"/>
                          <a:ea typeface="Times New Roman"/>
                          <a:cs typeface="Times New Roman"/>
                          <a:sym typeface="Times New Roman"/>
                        </a:rPr>
                        <a:t> Level</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Actual Battery Level</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0:00</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84%</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~88%</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0:05</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84%</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~87%</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0:10</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84%</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~86%</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0:15</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80%</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~84%</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0:20</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80%</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~83%</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0:25</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80%</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~83%</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GB">
                          <a:latin typeface="Times New Roman"/>
                          <a:ea typeface="Times New Roman"/>
                          <a:cs typeface="Times New Roman"/>
                          <a:sym typeface="Times New Roman"/>
                        </a:rPr>
                        <a:t>0:30</a:t>
                      </a:r>
                      <a:endParaRPr b="1">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E9E9E"/>
                    </a:solidFill>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None</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78%</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a:latin typeface="Times New Roman"/>
                          <a:ea typeface="Times New Roman"/>
                          <a:cs typeface="Times New Roman"/>
                          <a:sym typeface="Times New Roman"/>
                        </a:rPr>
                        <a:t>~82%</a:t>
                      </a:r>
                      <a:endParaRPr>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28" name="Google Shape;428;p55" title="train_batch2.jpg"/>
          <p:cNvPicPr preferRelativeResize="0"/>
          <p:nvPr/>
        </p:nvPicPr>
        <p:blipFill>
          <a:blip r:embed="rId3">
            <a:alphaModFix/>
          </a:blip>
          <a:stretch>
            <a:fillRect/>
          </a:stretch>
        </p:blipFill>
        <p:spPr>
          <a:xfrm>
            <a:off x="578425" y="979400"/>
            <a:ext cx="3315125" cy="2367552"/>
          </a:xfrm>
          <a:prstGeom prst="rect">
            <a:avLst/>
          </a:prstGeom>
          <a:noFill/>
          <a:ln>
            <a:noFill/>
          </a:ln>
        </p:spPr>
      </p:pic>
      <p:pic>
        <p:nvPicPr>
          <p:cNvPr id="429" name="Google Shape;429;p55" title="val_batch0_labels.jpg"/>
          <p:cNvPicPr preferRelativeResize="0"/>
          <p:nvPr/>
        </p:nvPicPr>
        <p:blipFill>
          <a:blip r:embed="rId4">
            <a:alphaModFix/>
          </a:blip>
          <a:stretch>
            <a:fillRect/>
          </a:stretch>
        </p:blipFill>
        <p:spPr>
          <a:xfrm>
            <a:off x="4572007" y="1032225"/>
            <a:ext cx="3948043" cy="2261900"/>
          </a:xfrm>
          <a:prstGeom prst="rect">
            <a:avLst/>
          </a:prstGeom>
          <a:noFill/>
          <a:ln>
            <a:noFill/>
          </a:ln>
        </p:spPr>
      </p:pic>
      <p:sp>
        <p:nvSpPr>
          <p:cNvPr id="430" name="Google Shape;430;p55"/>
          <p:cNvSpPr txBox="1"/>
          <p:nvPr/>
        </p:nvSpPr>
        <p:spPr>
          <a:xfrm>
            <a:off x="3592775" y="217225"/>
            <a:ext cx="126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2"/>
              </a:solidFill>
            </a:endParaRPr>
          </a:p>
        </p:txBody>
      </p:sp>
      <p:pic>
        <p:nvPicPr>
          <p:cNvPr id="431" name="Google Shape;431;p55"/>
          <p:cNvPicPr preferRelativeResize="0"/>
          <p:nvPr/>
        </p:nvPicPr>
        <p:blipFill>
          <a:blip r:embed="rId5">
            <a:alphaModFix/>
          </a:blip>
          <a:stretch>
            <a:fillRect/>
          </a:stretch>
        </p:blipFill>
        <p:spPr>
          <a:xfrm>
            <a:off x="11" y="4423500"/>
            <a:ext cx="719999" cy="720000"/>
          </a:xfrm>
          <a:prstGeom prst="rect">
            <a:avLst/>
          </a:prstGeom>
          <a:noFill/>
          <a:ln>
            <a:noFill/>
          </a:ln>
        </p:spPr>
      </p:pic>
      <p:sp>
        <p:nvSpPr>
          <p:cNvPr id="432" name="Google Shape;432;p55"/>
          <p:cNvSpPr txBox="1"/>
          <p:nvPr/>
        </p:nvSpPr>
        <p:spPr>
          <a:xfrm>
            <a:off x="578425" y="3647425"/>
            <a:ext cx="7425900" cy="10158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Used thermal and RGB datasets taken from real drone footage</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Model learned to detect people with over 58% average precision</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sz="1800">
                <a:solidFill>
                  <a:schemeClr val="dk1"/>
                </a:solidFill>
                <a:latin typeface="Times New Roman"/>
                <a:ea typeface="Times New Roman"/>
                <a:cs typeface="Times New Roman"/>
                <a:sym typeface="Times New Roman"/>
              </a:rPr>
              <a:t>Helps identify people from above in real-time for rescue ops</a:t>
            </a:r>
            <a:endParaRPr sz="1800">
              <a:solidFill>
                <a:schemeClr val="dk1"/>
              </a:solidFill>
            </a:endParaRPr>
          </a:p>
        </p:txBody>
      </p:sp>
      <p:sp>
        <p:nvSpPr>
          <p:cNvPr id="433" name="Google Shape;433;p55"/>
          <p:cNvSpPr txBox="1"/>
          <p:nvPr/>
        </p:nvSpPr>
        <p:spPr>
          <a:xfrm>
            <a:off x="2967175" y="163375"/>
            <a:ext cx="26484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500">
                <a:solidFill>
                  <a:schemeClr val="dk1"/>
                </a:solidFill>
                <a:latin typeface="Times New Roman"/>
                <a:ea typeface="Times New Roman"/>
                <a:cs typeface="Times New Roman"/>
                <a:sym typeface="Times New Roman"/>
              </a:rPr>
              <a:t>Computer Vision</a:t>
            </a:r>
            <a:endParaRPr b="1" sz="25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MAVLink and ArduPilot Testing</a:t>
            </a:r>
            <a:endParaRPr b="1">
              <a:latin typeface="Times New Roman"/>
              <a:ea typeface="Times New Roman"/>
              <a:cs typeface="Times New Roman"/>
              <a:sym typeface="Times New Roman"/>
            </a:endParaRPr>
          </a:p>
        </p:txBody>
      </p:sp>
      <p:sp>
        <p:nvSpPr>
          <p:cNvPr id="439" name="Google Shape;439;p56"/>
          <p:cNvSpPr txBox="1"/>
          <p:nvPr>
            <p:ph idx="1" type="body"/>
          </p:nvPr>
        </p:nvSpPr>
        <p:spPr>
          <a:xfrm>
            <a:off x="311700" y="1152475"/>
            <a:ext cx="25677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Using the MAVLink communication testing to showcase image chunks being received and reassembled on the Orin base station.</a:t>
            </a:r>
            <a:endParaRPr>
              <a:solidFill>
                <a:schemeClr val="dk1"/>
              </a:solidFill>
              <a:latin typeface="Times New Roman"/>
              <a:ea typeface="Times New Roman"/>
              <a:cs typeface="Times New Roman"/>
              <a:sym typeface="Times New Roman"/>
            </a:endParaRPr>
          </a:p>
        </p:txBody>
      </p:sp>
      <p:sp>
        <p:nvSpPr>
          <p:cNvPr id="440" name="Google Shape;440;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41" name="Google Shape;441;p56"/>
          <p:cNvPicPr preferRelativeResize="0"/>
          <p:nvPr/>
        </p:nvPicPr>
        <p:blipFill>
          <a:blip r:embed="rId3">
            <a:alphaModFix/>
          </a:blip>
          <a:stretch>
            <a:fillRect/>
          </a:stretch>
        </p:blipFill>
        <p:spPr>
          <a:xfrm rot="-5400000">
            <a:off x="6350027" y="621900"/>
            <a:ext cx="2038449" cy="2717952"/>
          </a:xfrm>
          <a:prstGeom prst="rect">
            <a:avLst/>
          </a:prstGeom>
          <a:noFill/>
          <a:ln>
            <a:noFill/>
          </a:ln>
        </p:spPr>
      </p:pic>
      <p:pic>
        <p:nvPicPr>
          <p:cNvPr id="442" name="Google Shape;442;p56"/>
          <p:cNvPicPr preferRelativeResize="0"/>
          <p:nvPr/>
        </p:nvPicPr>
        <p:blipFill>
          <a:blip r:embed="rId4">
            <a:alphaModFix/>
          </a:blip>
          <a:stretch>
            <a:fillRect/>
          </a:stretch>
        </p:blipFill>
        <p:spPr>
          <a:xfrm>
            <a:off x="3082612" y="959199"/>
            <a:ext cx="2724475" cy="2043348"/>
          </a:xfrm>
          <a:prstGeom prst="rect">
            <a:avLst/>
          </a:prstGeom>
          <a:noFill/>
          <a:ln>
            <a:noFill/>
          </a:ln>
        </p:spPr>
      </p:pic>
      <p:pic>
        <p:nvPicPr>
          <p:cNvPr id="443" name="Google Shape;443;p56"/>
          <p:cNvPicPr preferRelativeResize="0"/>
          <p:nvPr/>
        </p:nvPicPr>
        <p:blipFill>
          <a:blip r:embed="rId5">
            <a:alphaModFix/>
          </a:blip>
          <a:stretch>
            <a:fillRect/>
          </a:stretch>
        </p:blipFill>
        <p:spPr>
          <a:xfrm>
            <a:off x="4476800" y="3051748"/>
            <a:ext cx="2879419" cy="1836151"/>
          </a:xfrm>
          <a:prstGeom prst="rect">
            <a:avLst/>
          </a:prstGeom>
          <a:noFill/>
          <a:ln>
            <a:noFill/>
          </a:ln>
        </p:spPr>
      </p:pic>
      <p:sp>
        <p:nvSpPr>
          <p:cNvPr id="444" name="Google Shape;444;p56"/>
          <p:cNvSpPr txBox="1"/>
          <p:nvPr/>
        </p:nvSpPr>
        <p:spPr>
          <a:xfrm>
            <a:off x="3108450" y="3610825"/>
            <a:ext cx="1150200" cy="66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Signal Strength</a:t>
            </a:r>
            <a:endParaRPr sz="1800">
              <a:solidFill>
                <a:schemeClr val="dk1"/>
              </a:solidFill>
            </a:endParaRPr>
          </a:p>
        </p:txBody>
      </p:sp>
      <p:cxnSp>
        <p:nvCxnSpPr>
          <p:cNvPr id="445" name="Google Shape;445;p56"/>
          <p:cNvCxnSpPr/>
          <p:nvPr/>
        </p:nvCxnSpPr>
        <p:spPr>
          <a:xfrm flipH="1" rot="10800000">
            <a:off x="3968575" y="3627950"/>
            <a:ext cx="1926600" cy="240900"/>
          </a:xfrm>
          <a:prstGeom prst="straightConnector1">
            <a:avLst/>
          </a:prstGeom>
          <a:noFill/>
          <a:ln cap="flat" cmpd="sng" w="9525">
            <a:solidFill>
              <a:schemeClr val="dk2"/>
            </a:solidFill>
            <a:prstDash val="solid"/>
            <a:round/>
            <a:headEnd len="med" w="med" type="none"/>
            <a:tailEnd len="med" w="med" type="triangle"/>
          </a:ln>
        </p:spPr>
      </p:cxnSp>
      <p:pic>
        <p:nvPicPr>
          <p:cNvPr id="446" name="Google Shape;446;p56"/>
          <p:cNvPicPr preferRelativeResize="0"/>
          <p:nvPr/>
        </p:nvPicPr>
        <p:blipFill>
          <a:blip r:embed="rId6">
            <a:alphaModFix/>
          </a:blip>
          <a:stretch>
            <a:fillRect/>
          </a:stretch>
        </p:blipFill>
        <p:spPr>
          <a:xfrm>
            <a:off x="0" y="4423500"/>
            <a:ext cx="720000" cy="720000"/>
          </a:xfrm>
          <a:prstGeom prst="rect">
            <a:avLst/>
          </a:prstGeom>
          <a:noFill/>
          <a:ln>
            <a:noFill/>
          </a:ln>
        </p:spPr>
      </p:pic>
      <p:pic>
        <p:nvPicPr>
          <p:cNvPr id="447" name="Google Shape;447;p56"/>
          <p:cNvPicPr preferRelativeResize="0"/>
          <p:nvPr/>
        </p:nvPicPr>
        <p:blipFill>
          <a:blip r:embed="rId7">
            <a:alphaModFix/>
          </a:blip>
          <a:stretch>
            <a:fillRect/>
          </a:stretch>
        </p:blipFill>
        <p:spPr>
          <a:xfrm>
            <a:off x="-12" y="4423488"/>
            <a:ext cx="719999" cy="720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1" name="Shape 451"/>
        <p:cNvGrpSpPr/>
        <p:nvPr/>
      </p:nvGrpSpPr>
      <p:grpSpPr>
        <a:xfrm>
          <a:off x="0" y="0"/>
          <a:ext cx="0" cy="0"/>
          <a:chOff x="0" y="0"/>
          <a:chExt cx="0" cy="0"/>
        </a:xfrm>
      </p:grpSpPr>
      <p:sp>
        <p:nvSpPr>
          <p:cNvPr id="452" name="Google Shape;45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Software </a:t>
            </a:r>
            <a:r>
              <a:rPr b="1" lang="en-GB">
                <a:latin typeface="Times New Roman"/>
                <a:ea typeface="Times New Roman"/>
                <a:cs typeface="Times New Roman"/>
                <a:sym typeface="Times New Roman"/>
              </a:rPr>
              <a:t>Testing</a:t>
            </a:r>
            <a:endParaRPr b="1">
              <a:latin typeface="Times New Roman"/>
              <a:ea typeface="Times New Roman"/>
              <a:cs typeface="Times New Roman"/>
              <a:sym typeface="Times New Roman"/>
            </a:endParaRPr>
          </a:p>
        </p:txBody>
      </p:sp>
      <p:sp>
        <p:nvSpPr>
          <p:cNvPr id="453" name="Google Shape;45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ArduPilot</a:t>
            </a:r>
            <a:br>
              <a:rPr lang="en-GB">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Wireless Image Transfer</a:t>
            </a:r>
            <a:br>
              <a:rPr lang="en-GB">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YOLO</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Sample Models</a:t>
            </a:r>
            <a:br>
              <a:rPr lang="en-GB">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Different </a:t>
            </a:r>
            <a:r>
              <a:rPr lang="en-GB">
                <a:solidFill>
                  <a:schemeClr val="dk1"/>
                </a:solidFill>
                <a:latin typeface="Times New Roman"/>
                <a:ea typeface="Times New Roman"/>
                <a:cs typeface="Times New Roman"/>
                <a:sym typeface="Times New Roman"/>
              </a:rPr>
              <a:t>Environmental</a:t>
            </a:r>
            <a:br>
              <a:rPr lang="en-GB">
                <a:solidFill>
                  <a:schemeClr val="dk1"/>
                </a:solidFill>
                <a:latin typeface="Times New Roman"/>
                <a:ea typeface="Times New Roman"/>
                <a:cs typeface="Times New Roman"/>
                <a:sym typeface="Times New Roman"/>
              </a:rPr>
            </a:br>
            <a:r>
              <a:rPr lang="en-GB">
                <a:solidFill>
                  <a:schemeClr val="dk1"/>
                </a:solidFill>
                <a:latin typeface="Times New Roman"/>
                <a:ea typeface="Times New Roman"/>
                <a:cs typeface="Times New Roman"/>
                <a:sym typeface="Times New Roman"/>
              </a:rPr>
              <a:t>Conditions</a:t>
            </a:r>
            <a:endParaRPr>
              <a:solidFill>
                <a:schemeClr val="dk1"/>
              </a:solidFill>
              <a:latin typeface="Times New Roman"/>
              <a:ea typeface="Times New Roman"/>
              <a:cs typeface="Times New Roman"/>
              <a:sym typeface="Times New Roman"/>
            </a:endParaRPr>
          </a:p>
        </p:txBody>
      </p:sp>
      <p:sp>
        <p:nvSpPr>
          <p:cNvPr id="454" name="Google Shape;454;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pic>
        <p:nvPicPr>
          <p:cNvPr id="455" name="Google Shape;455;p57"/>
          <p:cNvPicPr preferRelativeResize="0"/>
          <p:nvPr/>
        </p:nvPicPr>
        <p:blipFill rotWithShape="1">
          <a:blip r:embed="rId3">
            <a:alphaModFix/>
          </a:blip>
          <a:srcRect b="0" l="16331" r="0" t="-1010"/>
          <a:stretch/>
        </p:blipFill>
        <p:spPr>
          <a:xfrm>
            <a:off x="4572000" y="1593050"/>
            <a:ext cx="4348850" cy="2470125"/>
          </a:xfrm>
          <a:prstGeom prst="rect">
            <a:avLst/>
          </a:prstGeom>
          <a:noFill/>
          <a:ln>
            <a:noFill/>
          </a:ln>
        </p:spPr>
      </p:pic>
      <p:pic>
        <p:nvPicPr>
          <p:cNvPr id="456" name="Google Shape;456;p57"/>
          <p:cNvPicPr preferRelativeResize="0"/>
          <p:nvPr/>
        </p:nvPicPr>
        <p:blipFill>
          <a:blip r:embed="rId4">
            <a:alphaModFix/>
          </a:blip>
          <a:stretch>
            <a:fillRect/>
          </a:stretch>
        </p:blipFill>
        <p:spPr>
          <a:xfrm>
            <a:off x="-12" y="4423488"/>
            <a:ext cx="719999" cy="720000"/>
          </a:xfrm>
          <a:prstGeom prst="rect">
            <a:avLst/>
          </a:prstGeom>
          <a:noFill/>
          <a:ln>
            <a:noFill/>
          </a:ln>
        </p:spPr>
      </p:pic>
      <p:pic>
        <p:nvPicPr>
          <p:cNvPr id="457" name="Google Shape;457;p57"/>
          <p:cNvPicPr preferRelativeResize="0"/>
          <p:nvPr/>
        </p:nvPicPr>
        <p:blipFill rotWithShape="1">
          <a:blip r:embed="rId3">
            <a:alphaModFix/>
          </a:blip>
          <a:srcRect b="24516" l="0" r="59823" t="0"/>
          <a:stretch/>
        </p:blipFill>
        <p:spPr>
          <a:xfrm>
            <a:off x="4572000" y="1648778"/>
            <a:ext cx="2088225" cy="18459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Challenges and Solutions</a:t>
            </a:r>
            <a:endParaRPr b="1">
              <a:latin typeface="Times New Roman"/>
              <a:ea typeface="Times New Roman"/>
              <a:cs typeface="Times New Roman"/>
              <a:sym typeface="Times New Roman"/>
            </a:endParaRPr>
          </a:p>
        </p:txBody>
      </p:sp>
      <p:sp>
        <p:nvSpPr>
          <p:cNvPr id="463" name="Google Shape;463;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The Jetson Nano being an outdated product and having very limited RAM, it is not ideal for handling drone data routing alongside human detection and image transmission.</a:t>
            </a:r>
            <a:endParaRPr sz="1400">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To minimize this problem, the weakest and least resource consuming model was used on the Jetson Nano for human detection in order to conserve resources for other processes.</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Data transmission packet loss throughout MAVLink is another challenge as the modems are not that powerful for handling both image data alongside the rapid fire rate of the flight controller data input.</a:t>
            </a:r>
            <a:endParaRPr sz="1400">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One </a:t>
            </a:r>
            <a:r>
              <a:rPr lang="en-GB">
                <a:solidFill>
                  <a:schemeClr val="dk1"/>
                </a:solidFill>
                <a:latin typeface="Times New Roman"/>
                <a:ea typeface="Times New Roman"/>
                <a:cs typeface="Times New Roman"/>
                <a:sym typeface="Times New Roman"/>
              </a:rPr>
              <a:t>approach to this was the idea of requesting image packet again during the transmission but unfortunately, this still risk the chance of losing the requesting packet and would stall out the process even more in compared to just sending a new image on the next interval.</a:t>
            </a:r>
            <a:endParaRPr>
              <a:solidFill>
                <a:schemeClr val="dk1"/>
              </a:solidFill>
              <a:latin typeface="Times New Roman"/>
              <a:ea typeface="Times New Roman"/>
              <a:cs typeface="Times New Roman"/>
              <a:sym typeface="Times New Roman"/>
            </a:endParaRPr>
          </a:p>
          <a:p>
            <a:pPr indent="-317500" lvl="1" marL="9144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To minimize this problem, the streamrates would be limited and image transmission rate would be increased to match in order to match the flight controller’s flood rate.</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sz="1400">
                <a:solidFill>
                  <a:schemeClr val="dk1"/>
                </a:solidFill>
                <a:latin typeface="Times New Roman"/>
                <a:ea typeface="Times New Roman"/>
                <a:cs typeface="Times New Roman"/>
                <a:sym typeface="Times New Roman"/>
              </a:rPr>
              <a:t>The L9961 battery management system (BMS) used on the PCB proved to be overly complex for our intended application, offering a range of advanced features that were unnecessary and difficult to implement given the relatively simple monitoring and protection requirements of our system. A more straightforward BMS solution would have reduced integration time. </a:t>
            </a:r>
            <a:endParaRPr sz="1400">
              <a:solidFill>
                <a:schemeClr val="dk1"/>
              </a:solidFill>
              <a:latin typeface="Times New Roman"/>
              <a:ea typeface="Times New Roman"/>
              <a:cs typeface="Times New Roman"/>
              <a:sym typeface="Times New Roman"/>
            </a:endParaRPr>
          </a:p>
        </p:txBody>
      </p:sp>
      <p:sp>
        <p:nvSpPr>
          <p:cNvPr id="464" name="Google Shape;46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65" name="Google Shape;465;p58"/>
          <p:cNvPicPr preferRelativeResize="0"/>
          <p:nvPr/>
        </p:nvPicPr>
        <p:blipFill>
          <a:blip r:embed="rId3">
            <a:alphaModFix/>
          </a:blip>
          <a:stretch>
            <a:fillRect/>
          </a:stretch>
        </p:blipFill>
        <p:spPr>
          <a:xfrm>
            <a:off x="0" y="4423500"/>
            <a:ext cx="720000" cy="720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Improvements</a:t>
            </a:r>
            <a:r>
              <a:rPr b="1" lang="en-GB">
                <a:latin typeface="Times New Roman"/>
                <a:ea typeface="Times New Roman"/>
                <a:cs typeface="Times New Roman"/>
                <a:sym typeface="Times New Roman"/>
              </a:rPr>
              <a:t> and Takeaways</a:t>
            </a:r>
            <a:endParaRPr b="1">
              <a:latin typeface="Times New Roman"/>
              <a:ea typeface="Times New Roman"/>
              <a:cs typeface="Times New Roman"/>
              <a:sym typeface="Times New Roman"/>
            </a:endParaRPr>
          </a:p>
        </p:txBody>
      </p:sp>
      <p:sp>
        <p:nvSpPr>
          <p:cNvPr id="471" name="Google Shape;471;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For this project in general, the Jetson hardware devices were not good as the Jetson Nano had many problems to be running as a companion computer on the drones. It would have been better to use anything besides this product as it is obsolete.</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The communication setup for relaying between drones is not advisable as the radio modems are not meant for relaying mesh networks since they only come with peer to peer firmware or multi-nodal broadcasting network. Even though the modems are considered the best for the MAVLink protocol by the creators of MAVLink, it is not designed for relaying mesh network protocol.</a:t>
            </a: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GB">
                <a:solidFill>
                  <a:schemeClr val="dk1"/>
                </a:solidFill>
                <a:latin typeface="Times New Roman"/>
                <a:ea typeface="Times New Roman"/>
                <a:cs typeface="Times New Roman"/>
                <a:sym typeface="Times New Roman"/>
              </a:rPr>
              <a:t>It would have been better to attach the cameras onto the flight controller for image transmission rather than trying to flood the stream on routing with the Jetson Nano.</a:t>
            </a:r>
            <a:endParaRPr>
              <a:solidFill>
                <a:schemeClr val="dk1"/>
              </a:solidFill>
              <a:latin typeface="Times New Roman"/>
              <a:ea typeface="Times New Roman"/>
              <a:cs typeface="Times New Roman"/>
              <a:sym typeface="Times New Roman"/>
            </a:endParaRPr>
          </a:p>
        </p:txBody>
      </p:sp>
      <p:sp>
        <p:nvSpPr>
          <p:cNvPr id="472" name="Google Shape;472;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473" name="Google Shape;473;p59"/>
          <p:cNvPicPr preferRelativeResize="0"/>
          <p:nvPr/>
        </p:nvPicPr>
        <p:blipFill>
          <a:blip r:embed="rId3">
            <a:alphaModFix/>
          </a:blip>
          <a:stretch>
            <a:fillRect/>
          </a:stretch>
        </p:blipFill>
        <p:spPr>
          <a:xfrm>
            <a:off x="-12" y="4423488"/>
            <a:ext cx="719999" cy="720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Bill of Materials</a:t>
            </a:r>
            <a:endParaRPr b="1">
              <a:latin typeface="Times New Roman"/>
              <a:ea typeface="Times New Roman"/>
              <a:cs typeface="Times New Roman"/>
              <a:sym typeface="Times New Roman"/>
            </a:endParaRPr>
          </a:p>
        </p:txBody>
      </p:sp>
      <p:sp>
        <p:nvSpPr>
          <p:cNvPr id="479" name="Google Shape;479;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480" name="Google Shape;480;p60"/>
          <p:cNvGraphicFramePr/>
          <p:nvPr/>
        </p:nvGraphicFramePr>
        <p:xfrm>
          <a:off x="311700" y="928838"/>
          <a:ext cx="3000000" cy="3000000"/>
        </p:xfrm>
        <a:graphic>
          <a:graphicData uri="http://schemas.openxmlformats.org/drawingml/2006/table">
            <a:tbl>
              <a:tblPr>
                <a:noFill/>
                <a:tableStyleId>{E42BAC45-C59E-43F8-A8E8-F3F4521ABA27}</a:tableStyleId>
              </a:tblPr>
              <a:tblGrid>
                <a:gridCol w="1321300"/>
                <a:gridCol w="1961400"/>
                <a:gridCol w="772675"/>
              </a:tblGrid>
              <a:tr h="333975">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LiDAR</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RPLIDAR C1</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$209.97</a:t>
                      </a:r>
                      <a:endParaRPr sz="1200">
                        <a:latin typeface="Times New Roman"/>
                        <a:ea typeface="Times New Roman"/>
                        <a:cs typeface="Times New Roman"/>
                        <a:sym typeface="Times New Roman"/>
                      </a:endParaRPr>
                    </a:p>
                  </a:txBody>
                  <a:tcPr marT="63500" marB="63500" marR="63500" marL="63500" anchor="ctr"/>
                </a:tc>
              </a:tr>
              <a:tr h="922725">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Thermal Camera</a:t>
                      </a:r>
                      <a:endParaRPr b="1" sz="1200">
                        <a:latin typeface="Times New Roman"/>
                        <a:ea typeface="Times New Roman"/>
                        <a:cs typeface="Times New Roman"/>
                        <a:sym typeface="Times New Roman"/>
                      </a:endParaRPr>
                    </a:p>
                    <a:p>
                      <a:pPr indent="0" lvl="0" marL="0" rtl="0" algn="just">
                        <a:spcBef>
                          <a:spcPts val="0"/>
                        </a:spcBef>
                        <a:spcAft>
                          <a:spcPts val="0"/>
                        </a:spcAft>
                        <a:buNone/>
                      </a:pPr>
                      <a:r>
                        <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Provided by Lockheed Martin</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Boson Longwave Infrared (LWIR) OEM Module 320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T="63500" marB="63500" marR="63500" marL="63500" anchor="ctr"/>
                </a:tc>
              </a:tr>
              <a:tr h="333975">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Camera</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ELP-SUSB1080P01-LC1100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$68.99</a:t>
                      </a:r>
                      <a:endParaRPr sz="1200">
                        <a:latin typeface="Times New Roman"/>
                        <a:ea typeface="Times New Roman"/>
                        <a:cs typeface="Times New Roman"/>
                        <a:sym typeface="Times New Roman"/>
                      </a:endParaRPr>
                    </a:p>
                  </a:txBody>
                  <a:tcPr marT="63500" marB="63500" marR="63500" marL="63500" anchor="ctr"/>
                </a:tc>
              </a:tr>
              <a:tr h="364925">
                <a:tc rowSpan="2">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PCBs</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First Revs</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$122.54</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B cap="flat" cmpd="sng" w="12700">
                      <a:solidFill>
                        <a:srgbClr val="000000"/>
                      </a:solidFill>
                      <a:prstDash val="solid"/>
                      <a:round/>
                      <a:headEnd len="sm" w="sm" type="none"/>
                      <a:tailEnd len="sm" w="sm" type="none"/>
                    </a:lnB>
                  </a:tcPr>
                </a:tc>
              </a:tr>
              <a:tr h="364925">
                <a:tc vMerge="1"/>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Second Rev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$129.03</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4925">
                <a:tc rowSpan="2">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Parts</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First Rev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$145.74</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4925">
                <a:tc vMerge="1"/>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Second Rev</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$186.38</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graphicFrame>
        <p:nvGraphicFramePr>
          <p:cNvPr id="481" name="Google Shape;481;p60"/>
          <p:cNvGraphicFramePr/>
          <p:nvPr/>
        </p:nvGraphicFramePr>
        <p:xfrm>
          <a:off x="4367075" y="928863"/>
          <a:ext cx="3000000" cy="3000000"/>
        </p:xfrm>
        <a:graphic>
          <a:graphicData uri="http://schemas.openxmlformats.org/drawingml/2006/table">
            <a:tbl>
              <a:tblPr>
                <a:noFill/>
                <a:tableStyleId>{E42BAC45-C59E-43F8-A8E8-F3F4521ABA27}</a:tableStyleId>
              </a:tblPr>
              <a:tblGrid>
                <a:gridCol w="1454825"/>
                <a:gridCol w="2159625"/>
                <a:gridCol w="850775"/>
              </a:tblGrid>
              <a:tr h="31215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Display</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HMTECH 7-inch Raspberry Pi Screen</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$38.33</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215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Radio Modem</a:t>
                      </a:r>
                      <a:endParaRPr b="1"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99999"/>
                    </a:solidFill>
                  </a:tcPr>
                </a:tc>
                <a:tc>
                  <a:txBody>
                    <a:bodyPr/>
                    <a:lstStyle/>
                    <a:p>
                      <a:pPr indent="0" lvl="0" marL="0" rtl="0" algn="ctr">
                        <a:lnSpc>
                          <a:spcPct val="115000"/>
                        </a:lnSpc>
                        <a:spcBef>
                          <a:spcPts val="0"/>
                        </a:spcBef>
                        <a:spcAft>
                          <a:spcPts val="0"/>
                        </a:spcAft>
                        <a:buNone/>
                      </a:pPr>
                      <a:r>
                        <a:rPr lang="en-GB" sz="1200">
                          <a:latin typeface="Times New Roman"/>
                          <a:ea typeface="Times New Roman"/>
                          <a:cs typeface="Times New Roman"/>
                          <a:sym typeface="Times New Roman"/>
                        </a:rPr>
                        <a:t>RFD900x-US Bundle</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$226.00</a:t>
                      </a:r>
                      <a:endParaRPr sz="1200">
                        <a:latin typeface="Times New Roman"/>
                        <a:ea typeface="Times New Roman"/>
                        <a:cs typeface="Times New Roman"/>
                        <a:sym typeface="Times New Roman"/>
                      </a:endParaRPr>
                    </a:p>
                  </a:txBody>
                  <a:tcPr marT="63500" marB="63500" marR="63500" marL="635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9025">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STLink</a:t>
                      </a:r>
                      <a:endParaRPr b="1" sz="1200">
                        <a:latin typeface="Times New Roman"/>
                        <a:ea typeface="Times New Roman"/>
                        <a:cs typeface="Times New Roman"/>
                        <a:sym typeface="Times New Roman"/>
                      </a:endParaRPr>
                    </a:p>
                  </a:txBody>
                  <a:tcPr marT="63500" marB="63500" marR="63500" marL="63500" anchor="ctr">
                    <a:lnT cap="flat" cmpd="sng" w="12700">
                      <a:solidFill>
                        <a:srgbClr val="000000"/>
                      </a:solidFill>
                      <a:prstDash val="solid"/>
                      <a:round/>
                      <a:headEnd len="sm" w="sm" type="none"/>
                      <a:tailEnd len="sm" w="sm" type="none"/>
                    </a:lnT>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ST-Link STM8/STM32 v2 Compatible Programmer &amp; Emulator</a:t>
                      </a:r>
                      <a:endParaRPr sz="1200">
                        <a:latin typeface="Times New Roman"/>
                        <a:ea typeface="Times New Roman"/>
                        <a:cs typeface="Times New Roman"/>
                        <a:sym typeface="Times New Roman"/>
                      </a:endParaRPr>
                    </a:p>
                  </a:txBody>
                  <a:tcPr marT="63500" marB="63500" marR="63500" marL="63500" anchor="ctr">
                    <a:lnT cap="flat" cmpd="sng" w="12700">
                      <a:solidFill>
                        <a:srgbClr val="000000"/>
                      </a:solidFill>
                      <a:prstDash val="solid"/>
                      <a:round/>
                      <a:headEnd len="sm" w="sm" type="none"/>
                      <a:tailEnd len="sm" w="sm" type="none"/>
                    </a:lnT>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T="63500" marB="63500" marR="63500" marL="63500" anchor="ctr">
                    <a:lnT cap="flat" cmpd="sng" w="12700">
                      <a:solidFill>
                        <a:srgbClr val="000000"/>
                      </a:solidFill>
                      <a:prstDash val="solid"/>
                      <a:round/>
                      <a:headEnd len="sm" w="sm" type="none"/>
                      <a:tailEnd len="sm" w="sm" type="none"/>
                    </a:lnT>
                  </a:tcPr>
                </a:tc>
              </a:tr>
              <a:tr h="862475">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Processor</a:t>
                      </a:r>
                      <a:endParaRPr b="1" sz="1200">
                        <a:latin typeface="Times New Roman"/>
                        <a:ea typeface="Times New Roman"/>
                        <a:cs typeface="Times New Roman"/>
                        <a:sym typeface="Times New Roman"/>
                      </a:endParaRPr>
                    </a:p>
                    <a:p>
                      <a:pPr indent="0" lvl="0" marL="0" rtl="0" algn="just">
                        <a:spcBef>
                          <a:spcPts val="0"/>
                        </a:spcBef>
                        <a:spcAft>
                          <a:spcPts val="0"/>
                        </a:spcAft>
                        <a:buNone/>
                      </a:pPr>
                      <a:r>
                        <a:t/>
                      </a:r>
                      <a:endParaRPr b="1" sz="1200">
                        <a:latin typeface="Times New Roman"/>
                        <a:ea typeface="Times New Roman"/>
                        <a:cs typeface="Times New Roman"/>
                        <a:sym typeface="Times New Roman"/>
                      </a:endParaRPr>
                    </a:p>
                    <a:p>
                      <a:pPr indent="0" lvl="0" marL="0" rtl="0" algn="ctr">
                        <a:spcBef>
                          <a:spcPts val="0"/>
                        </a:spcBef>
                        <a:spcAft>
                          <a:spcPts val="0"/>
                        </a:spcAft>
                        <a:buNone/>
                      </a:pPr>
                      <a:r>
                        <a:rPr b="1" lang="en-GB" sz="1200">
                          <a:highlight>
                            <a:srgbClr val="FFFF00"/>
                          </a:highlight>
                          <a:latin typeface="Times New Roman"/>
                          <a:ea typeface="Times New Roman"/>
                          <a:cs typeface="Times New Roman"/>
                          <a:sym typeface="Times New Roman"/>
                        </a:rPr>
                        <a:t>Provided by Lockheed Martin</a:t>
                      </a:r>
                      <a:endParaRPr b="1" sz="1200">
                        <a:highlight>
                          <a:srgbClr val="FFFF00"/>
                        </a:highlight>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Jetson AGX Orin Developer Kit</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$0.00</a:t>
                      </a:r>
                      <a:endParaRPr sz="1200">
                        <a:latin typeface="Times New Roman"/>
                        <a:ea typeface="Times New Roman"/>
                        <a:cs typeface="Times New Roman"/>
                        <a:sym typeface="Times New Roman"/>
                      </a:endParaRPr>
                    </a:p>
                  </a:txBody>
                  <a:tcPr marT="63500" marB="63500" marR="63500" marL="63500" anchor="ctr"/>
                </a:tc>
              </a:tr>
              <a:tr h="31215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Battery</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LG INR21700-M50</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$25.85</a:t>
                      </a:r>
                      <a:endParaRPr sz="1200">
                        <a:latin typeface="Times New Roman"/>
                        <a:ea typeface="Times New Roman"/>
                        <a:cs typeface="Times New Roman"/>
                        <a:sym typeface="Times New Roman"/>
                      </a:endParaRPr>
                    </a:p>
                  </a:txBody>
                  <a:tcPr marT="63500" marB="63500" marR="63500" marL="63500" anchor="ctr"/>
                </a:tc>
              </a:tr>
              <a:tr h="314100">
                <a:tc>
                  <a:txBody>
                    <a:bodyPr/>
                    <a:lstStyle/>
                    <a:p>
                      <a:pPr indent="0" lvl="0" marL="0" rtl="0" algn="just">
                        <a:spcBef>
                          <a:spcPts val="0"/>
                        </a:spcBef>
                        <a:spcAft>
                          <a:spcPts val="0"/>
                        </a:spcAft>
                        <a:buNone/>
                      </a:pPr>
                      <a:r>
                        <a:rPr b="1" lang="en-GB" sz="1200">
                          <a:latin typeface="Times New Roman"/>
                          <a:ea typeface="Times New Roman"/>
                          <a:cs typeface="Times New Roman"/>
                          <a:sym typeface="Times New Roman"/>
                        </a:rPr>
                        <a:t>Total</a:t>
                      </a:r>
                      <a:endParaRPr b="1" sz="1200">
                        <a:latin typeface="Times New Roman"/>
                        <a:ea typeface="Times New Roman"/>
                        <a:cs typeface="Times New Roman"/>
                        <a:sym typeface="Times New Roman"/>
                      </a:endParaRPr>
                    </a:p>
                  </a:txBody>
                  <a:tcPr marT="63500" marB="63500" marR="63500" marL="63500" anchor="ctr">
                    <a:solidFill>
                      <a:srgbClr val="999999"/>
                    </a:solidFill>
                  </a:tcPr>
                </a:tc>
                <a:tc>
                  <a:txBody>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a:txBody>
                  <a:tcPr marT="63500" marB="63500" marR="63500" marL="63500" anchor="ctr"/>
                </a:tc>
                <a:tc>
                  <a:txBody>
                    <a:bodyPr/>
                    <a:lstStyle/>
                    <a:p>
                      <a:pPr indent="0" lvl="0" marL="0" rtl="0" algn="ctr">
                        <a:spcBef>
                          <a:spcPts val="0"/>
                        </a:spcBef>
                        <a:spcAft>
                          <a:spcPts val="0"/>
                        </a:spcAft>
                        <a:buNone/>
                      </a:pPr>
                      <a:r>
                        <a:rPr lang="en-GB" sz="1200">
                          <a:latin typeface="Times New Roman"/>
                          <a:ea typeface="Times New Roman"/>
                          <a:cs typeface="Times New Roman"/>
                          <a:sym typeface="Times New Roman"/>
                        </a:rPr>
                        <a:t>$1,152.83</a:t>
                      </a:r>
                      <a:endParaRPr sz="1200">
                        <a:latin typeface="Times New Roman"/>
                        <a:ea typeface="Times New Roman"/>
                        <a:cs typeface="Times New Roman"/>
                        <a:sym typeface="Times New Roman"/>
                      </a:endParaRPr>
                    </a:p>
                  </a:txBody>
                  <a:tcPr marT="63500" marB="63500" marR="63500" marL="63500" anchor="ctr"/>
                </a:tc>
              </a:tr>
            </a:tbl>
          </a:graphicData>
        </a:graphic>
      </p:graphicFrame>
      <p:pic>
        <p:nvPicPr>
          <p:cNvPr id="482" name="Google Shape;482;p60"/>
          <p:cNvPicPr preferRelativeResize="0"/>
          <p:nvPr/>
        </p:nvPicPr>
        <p:blipFill>
          <a:blip r:embed="rId3">
            <a:alphaModFix/>
          </a:blip>
          <a:stretch>
            <a:fillRect/>
          </a:stretch>
        </p:blipFill>
        <p:spPr>
          <a:xfrm>
            <a:off x="0" y="4423500"/>
            <a:ext cx="720000" cy="720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Times New Roman"/>
                <a:ea typeface="Times New Roman"/>
                <a:cs typeface="Times New Roman"/>
                <a:sym typeface="Times New Roman"/>
              </a:rPr>
              <a:t>Work</a:t>
            </a:r>
            <a:r>
              <a:rPr b="1" lang="en-GB">
                <a:latin typeface="Times New Roman"/>
                <a:ea typeface="Times New Roman"/>
                <a:cs typeface="Times New Roman"/>
                <a:sym typeface="Times New Roman"/>
              </a:rPr>
              <a:t> Distribution</a:t>
            </a:r>
            <a:endParaRPr b="1">
              <a:latin typeface="Times New Roman"/>
              <a:ea typeface="Times New Roman"/>
              <a:cs typeface="Times New Roman"/>
              <a:sym typeface="Times New Roman"/>
            </a:endParaRPr>
          </a:p>
        </p:txBody>
      </p:sp>
      <p:sp>
        <p:nvSpPr>
          <p:cNvPr id="488" name="Google Shape;48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solidFill>
                  <a:schemeClr val="dk2"/>
                </a:solidFill>
              </a:rPr>
              <a:t>‹#›</a:t>
            </a:fld>
            <a:endParaRPr>
              <a:solidFill>
                <a:schemeClr val="dk2"/>
              </a:solidFill>
            </a:endParaRPr>
          </a:p>
        </p:txBody>
      </p:sp>
      <p:graphicFrame>
        <p:nvGraphicFramePr>
          <p:cNvPr id="489" name="Google Shape;489;p61"/>
          <p:cNvGraphicFramePr/>
          <p:nvPr/>
        </p:nvGraphicFramePr>
        <p:xfrm>
          <a:off x="311700" y="1132250"/>
          <a:ext cx="3000000" cy="3000000"/>
        </p:xfrm>
        <a:graphic>
          <a:graphicData uri="http://schemas.openxmlformats.org/drawingml/2006/table">
            <a:tbl>
              <a:tblPr>
                <a:noFill/>
                <a:tableStyleId>{9BEABABF-511B-4D29-9E36-947EC27D0BD4}</a:tableStyleId>
              </a:tblPr>
              <a:tblGrid>
                <a:gridCol w="2840200"/>
                <a:gridCol w="2840200"/>
                <a:gridCol w="2840200"/>
              </a:tblGrid>
              <a:tr h="1718300">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Jack</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Communication Setup</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Embedded Software</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Website Management</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Administrative Documentation</a:t>
                      </a:r>
                      <a:endParaRPr>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Max</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PSU Design</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PCB Design</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Hardware Implementation</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Embedded Software</a:t>
                      </a:r>
                      <a:endParaRPr>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Isaiah</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GB">
                          <a:solidFill>
                            <a:schemeClr val="dk1"/>
                          </a:solidFill>
                          <a:latin typeface="Times New Roman"/>
                          <a:ea typeface="Times New Roman"/>
                          <a:cs typeface="Times New Roman"/>
                          <a:sym typeface="Times New Roman"/>
                        </a:rPr>
                        <a:t>Communication Setup</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GB">
                          <a:solidFill>
                            <a:schemeClr val="dk1"/>
                          </a:solidFill>
                          <a:latin typeface="Times New Roman"/>
                          <a:ea typeface="Times New Roman"/>
                          <a:cs typeface="Times New Roman"/>
                          <a:sym typeface="Times New Roman"/>
                        </a:rPr>
                        <a:t>Hardware Implementation</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PCB Design</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Embedded Software</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graphicFrame>
        <p:nvGraphicFramePr>
          <p:cNvPr id="490" name="Google Shape;490;p61"/>
          <p:cNvGraphicFramePr/>
          <p:nvPr/>
        </p:nvGraphicFramePr>
        <p:xfrm>
          <a:off x="1103650" y="2850550"/>
          <a:ext cx="3000000" cy="3000000"/>
        </p:xfrm>
        <a:graphic>
          <a:graphicData uri="http://schemas.openxmlformats.org/drawingml/2006/table">
            <a:tbl>
              <a:tblPr>
                <a:noFill/>
                <a:tableStyleId>{9BEABABF-511B-4D29-9E36-947EC27D0BD4}</a:tableStyleId>
              </a:tblPr>
              <a:tblGrid>
                <a:gridCol w="4260300"/>
                <a:gridCol w="4260300"/>
              </a:tblGrid>
              <a:tr h="1812675">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Patrick</a:t>
                      </a:r>
                      <a:endParaRPr>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Computer Vision</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Communication Setup</a:t>
                      </a:r>
                      <a:endParaRPr b="1">
                        <a:latin typeface="Times New Roman"/>
                        <a:ea typeface="Times New Roman"/>
                        <a:cs typeface="Times New Roman"/>
                        <a:sym typeface="Times New Roman"/>
                      </a:endParaRPr>
                    </a:p>
                    <a:p>
                      <a:pPr indent="-317500" lvl="0" marL="457200" rtl="0" algn="l">
                        <a:spcBef>
                          <a:spcPts val="0"/>
                        </a:spcBef>
                        <a:spcAft>
                          <a:spcPts val="0"/>
                        </a:spcAft>
                        <a:buSzPts val="1400"/>
                        <a:buFont typeface="Times New Roman"/>
                        <a:buChar char="●"/>
                      </a:pPr>
                      <a:r>
                        <a:rPr lang="en-GB">
                          <a:latin typeface="Times New Roman"/>
                          <a:ea typeface="Times New Roman"/>
                          <a:cs typeface="Times New Roman"/>
                          <a:sym typeface="Times New Roman"/>
                        </a:rPr>
                        <a:t>GUI</a:t>
                      </a:r>
                      <a:endParaRPr>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GB">
                          <a:latin typeface="Times New Roman"/>
                          <a:ea typeface="Times New Roman"/>
                          <a:cs typeface="Times New Roman"/>
                          <a:sym typeface="Times New Roman"/>
                        </a:rPr>
                        <a:t>Esteban</a:t>
                      </a:r>
                      <a:endParaRPr>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GB">
                          <a:solidFill>
                            <a:schemeClr val="dk1"/>
                          </a:solidFill>
                          <a:latin typeface="Times New Roman"/>
                          <a:ea typeface="Times New Roman"/>
                          <a:cs typeface="Times New Roman"/>
                          <a:sym typeface="Times New Roman"/>
                        </a:rPr>
                        <a:t>Computer Vision</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b="1" lang="en-GB">
                          <a:solidFill>
                            <a:schemeClr val="dk1"/>
                          </a:solidFill>
                          <a:latin typeface="Times New Roman"/>
                          <a:ea typeface="Times New Roman"/>
                          <a:cs typeface="Times New Roman"/>
                          <a:sym typeface="Times New Roman"/>
                        </a:rPr>
                        <a:t>Software Implementation</a:t>
                      </a:r>
                      <a:endParaRPr b="1">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GB">
                          <a:solidFill>
                            <a:schemeClr val="dk1"/>
                          </a:solidFill>
                          <a:latin typeface="Times New Roman"/>
                          <a:ea typeface="Times New Roman"/>
                          <a:cs typeface="Times New Roman"/>
                          <a:sym typeface="Times New Roman"/>
                        </a:rPr>
                        <a:t>GUI</a:t>
                      </a:r>
                      <a:endParaRPr>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graphicFrame>
        <p:nvGraphicFramePr>
          <p:cNvPr id="491" name="Google Shape;491;p61"/>
          <p:cNvGraphicFramePr/>
          <p:nvPr/>
        </p:nvGraphicFramePr>
        <p:xfrm>
          <a:off x="2762250" y="4367775"/>
          <a:ext cx="3000000" cy="3000000"/>
        </p:xfrm>
        <a:graphic>
          <a:graphicData uri="http://schemas.openxmlformats.org/drawingml/2006/table">
            <a:tbl>
              <a:tblPr>
                <a:noFill/>
                <a:tableStyleId>{9BEABABF-511B-4D29-9E36-947EC27D0BD4}</a:tableStyleId>
              </a:tblPr>
              <a:tblGrid>
                <a:gridCol w="1809750"/>
                <a:gridCol w="1809750"/>
              </a:tblGrid>
              <a:tr h="381000">
                <a:tc>
                  <a:txBody>
                    <a:bodyPr/>
                    <a:lstStyle/>
                    <a:p>
                      <a:pPr indent="-317500" lvl="0" marL="457200" rtl="0" algn="l">
                        <a:spcBef>
                          <a:spcPts val="0"/>
                        </a:spcBef>
                        <a:spcAft>
                          <a:spcPts val="0"/>
                        </a:spcAft>
                        <a:buSzPts val="1400"/>
                        <a:buFont typeface="Times New Roman"/>
                        <a:buChar char="●"/>
                      </a:pPr>
                      <a:r>
                        <a:rPr b="1" lang="en-GB">
                          <a:latin typeface="Times New Roman"/>
                          <a:ea typeface="Times New Roman"/>
                          <a:cs typeface="Times New Roman"/>
                          <a:sym typeface="Times New Roman"/>
                        </a:rPr>
                        <a:t>Primary</a:t>
                      </a:r>
                      <a:endParaRPr b="1">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317500" lvl="0" marL="457200" rtl="0" algn="l">
                        <a:spcBef>
                          <a:spcPts val="0"/>
                        </a:spcBef>
                        <a:spcAft>
                          <a:spcPts val="0"/>
                        </a:spcAft>
                        <a:buClr>
                          <a:schemeClr val="dk1"/>
                        </a:buClr>
                        <a:buSzPts val="1400"/>
                        <a:buChar char="●"/>
                      </a:pPr>
                      <a:r>
                        <a:rPr lang="en-GB">
                          <a:solidFill>
                            <a:schemeClr val="dk1"/>
                          </a:solidFill>
                          <a:latin typeface="Times New Roman"/>
                          <a:ea typeface="Times New Roman"/>
                          <a:cs typeface="Times New Roman"/>
                          <a:sym typeface="Times New Roman"/>
                        </a:rPr>
                        <a:t>Secondary</a:t>
                      </a:r>
                      <a:endParaRPr b="1">
                        <a:latin typeface="Times New Roman"/>
                        <a:ea typeface="Times New Roman"/>
                        <a:cs typeface="Times New Roman"/>
                        <a:sym typeface="Times New Roman"/>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pic>
        <p:nvPicPr>
          <p:cNvPr id="492" name="Google Shape;492;p61"/>
          <p:cNvPicPr preferRelativeResize="0"/>
          <p:nvPr/>
        </p:nvPicPr>
        <p:blipFill>
          <a:blip r:embed="rId3">
            <a:alphaModFix/>
          </a:blip>
          <a:stretch>
            <a:fillRect/>
          </a:stretch>
        </p:blipFill>
        <p:spPr>
          <a:xfrm>
            <a:off x="0" y="4423500"/>
            <a:ext cx="720000" cy="7200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latin typeface="Times New Roman"/>
                <a:ea typeface="Times New Roman"/>
                <a:cs typeface="Times New Roman"/>
                <a:sym typeface="Times New Roman"/>
              </a:rPr>
              <a:t>Thanks!</a:t>
            </a:r>
            <a:endParaRPr>
              <a:latin typeface="Times New Roman"/>
              <a:ea typeface="Times New Roman"/>
              <a:cs typeface="Times New Roman"/>
              <a:sym typeface="Times New Roman"/>
            </a:endParaRPr>
          </a:p>
        </p:txBody>
      </p:sp>
      <p:sp>
        <p:nvSpPr>
          <p:cNvPr id="498" name="Google Shape;49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